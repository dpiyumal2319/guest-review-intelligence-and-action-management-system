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 hotel lives and dies by its reputation — and today that reputation is no longer written by your front desk. It's written by algorithms reading your reviews. What we've built reads those same reviews first, on your side, so the problems guests mention get fixed before they ever define you. Let me show you what we found inside The Kingsbury's own reviews.
MUST-SAY: 'You can't delete a bad review. But you can fix what caused it — before the world reads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a guest decides today. They don't scroll 7,000 reviews — they ask an AI, and the AI answers from those reviews in one sentence. Notice the caveat: noise, dated rooms, service inconsistency. That caveat isn't an opinion — it's a problem that bubbled up, got repeated by enough guests, and is now baked into how the hotel is described on every single query.
MUST-SAY: 'Your reputation is now written by an algorithm reading your reviews — we make sure it's reading your best story, not your worst 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MUST-SAY: 'We can't rewrite yesterday's reviews — no one can. We make sure tomorrow's never become a headline.' AND 'We don't wait for the trend — we catch issue #1 before it becomes issue #200.'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MUST-SAY: 'We turn three thousand scattered complaints into one prioritized action list — owned, ranked, and evidenced.'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MUST-SAY: 'It doesn't hand you a category — it hands you the room number and the receipt.'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MUST-SAY: 'From just one-seventh of your reviews, we mapped every operational fault line in the hotel. Imagine the full picture.'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MUST-SAY: 'These aren't categories — they're 117 work-orders, each with the room number and the receipt attached.'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MUST-SAY: 'For the price of a cup of coffee per analysis, we protect a six-figure slice of your room revenue.'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MUST-SAY: '77% of every complaint is already traced to a fixable issue with its evidence attached — no human team can match that coverage.'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MUST-SAY: 'You can't buy back a reputation once an AI has memorized it — but for cents per analysis, you can make sure it never has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1.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856"/>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59E0B"/>
          </a:solidFill>
          <a:ln/>
        </p:spPr>
      </p:sp>
      <p:pic>
        <p:nvPicPr>
          <p:cNvPr id="3" name="Image 0" descr="preencoded.png">    </p:cNvPr>
          <p:cNvPicPr>
            <a:picLocks noChangeAspect="1"/>
          </p:cNvPicPr>
          <p:nvPr/>
        </p:nvPicPr>
        <p:blipFill>
          <a:blip r:embed="rId1"/>
          <a:stretch>
            <a:fillRect/>
          </a:stretch>
        </p:blipFill>
        <p:spPr>
          <a:xfrm>
            <a:off x="457200" y="365760"/>
            <a:ext cx="640080" cy="640080"/>
          </a:xfrm>
          <a:prstGeom prst="rect">
            <a:avLst/>
          </a:prstGeom>
        </p:spPr>
      </p:pic>
      <p:sp>
        <p:nvSpPr>
          <p:cNvPr id="4" name="Text 1"/>
          <p:cNvSpPr/>
          <p:nvPr/>
        </p:nvSpPr>
        <p:spPr>
          <a:xfrm>
            <a:off x="1234440" y="347472"/>
            <a:ext cx="7315200" cy="411480"/>
          </a:xfrm>
          <a:prstGeom prst="rect">
            <a:avLst/>
          </a:prstGeom>
          <a:noFill/>
          <a:ln/>
        </p:spPr>
        <p:txBody>
          <a:bodyPr wrap="square" lIns="0" tIns="0" rIns="0" bIns="0" rtlCol="0" anchor="ctr"/>
          <a:lstStyle/>
          <a:p>
            <a:pPr indent="0" marL="0">
              <a:buNone/>
            </a:pPr>
            <a:r>
              <a:rPr lang="en-US" sz="1300" b="1" spc="400" kern="0" dirty="0">
                <a:solidFill>
                  <a:srgbClr val="F59E0B"/>
                </a:solidFill>
                <a:latin typeface="Calibri" pitchFamily="34" charset="0"/>
                <a:ea typeface="Calibri" pitchFamily="34" charset="-122"/>
                <a:cs typeface="Calibri" pitchFamily="34" charset="-120"/>
              </a:rPr>
              <a:t>THE KINGSBURY COLOMBO</a:t>
            </a:r>
            <a:endParaRPr lang="en-US" sz="1300" dirty="0"/>
          </a:p>
        </p:txBody>
      </p:sp>
      <p:sp>
        <p:nvSpPr>
          <p:cNvPr id="5" name="Text 2"/>
          <p:cNvSpPr/>
          <p:nvPr/>
        </p:nvSpPr>
        <p:spPr>
          <a:xfrm>
            <a:off x="457200" y="1005840"/>
            <a:ext cx="8229600" cy="1737360"/>
          </a:xfrm>
          <a:prstGeom prst="rect">
            <a:avLst/>
          </a:prstGeom>
          <a:noFill/>
          <a:ln/>
        </p:spPr>
        <p:txBody>
          <a:bodyPr wrap="square" rtlCol="0" anchor="ctr"/>
          <a:lstStyle/>
          <a:p>
            <a:pPr algn="l" indent="0" marL="0">
              <a:buNone/>
            </a:pPr>
            <a:r>
              <a:rPr lang="en-US" sz="4600" b="1" dirty="0">
                <a:solidFill>
                  <a:srgbClr val="FFFFFF"/>
                </a:solidFill>
                <a:latin typeface="Cambria" pitchFamily="34" charset="0"/>
                <a:ea typeface="Cambria" pitchFamily="34" charset="-122"/>
                <a:cs typeface="Cambria" pitchFamily="34" charset="-120"/>
              </a:rPr>
              <a:t>Guest Review Intelligence</a:t>
            </a:r>
            <a:endParaRPr lang="en-US" sz="4600" dirty="0"/>
          </a:p>
          <a:p>
            <a:pPr algn="l" indent="0" marL="0">
              <a:buNone/>
            </a:pPr>
            <a:r>
              <a:rPr lang="en-US" sz="4600" b="1" dirty="0">
                <a:solidFill>
                  <a:srgbClr val="FFFFFF"/>
                </a:solidFill>
                <a:latin typeface="Cambria" pitchFamily="34" charset="0"/>
                <a:ea typeface="Cambria" pitchFamily="34" charset="-122"/>
                <a:cs typeface="Cambria" pitchFamily="34" charset="-120"/>
              </a:rPr>
              <a:t>&amp; Action Management</a:t>
            </a:r>
            <a:endParaRPr lang="en-US" sz="4600" dirty="0"/>
          </a:p>
        </p:txBody>
      </p:sp>
      <p:sp>
        <p:nvSpPr>
          <p:cNvPr id="6" name="Text 3"/>
          <p:cNvSpPr/>
          <p:nvPr/>
        </p:nvSpPr>
        <p:spPr>
          <a:xfrm>
            <a:off x="457200" y="2697480"/>
            <a:ext cx="8229600" cy="411480"/>
          </a:xfrm>
          <a:prstGeom prst="rect">
            <a:avLst/>
          </a:prstGeom>
          <a:noFill/>
          <a:ln/>
        </p:spPr>
        <p:txBody>
          <a:bodyPr wrap="square" rtlCol="0" anchor="ctr"/>
          <a:lstStyle/>
          <a:p>
            <a:pPr indent="0" marL="0">
              <a:buNone/>
            </a:pPr>
            <a:r>
              <a:rPr lang="en-US" sz="1700" i="1" dirty="0">
                <a:solidFill>
                  <a:srgbClr val="DBEAFE"/>
                </a:solidFill>
                <a:latin typeface="Calibri" pitchFamily="34" charset="0"/>
                <a:ea typeface="Calibri" pitchFamily="34" charset="-122"/>
                <a:cs typeface="Calibri" pitchFamily="34" charset="-120"/>
              </a:rPr>
              <a:t>Reputation Protection, Built on Your Real Reviews</a:t>
            </a:r>
            <a:endParaRPr lang="en-US" sz="1700" dirty="0"/>
          </a:p>
        </p:txBody>
      </p:sp>
      <p:sp>
        <p:nvSpPr>
          <p:cNvPr id="7" name="Shape 4"/>
          <p:cNvSpPr/>
          <p:nvPr/>
        </p:nvSpPr>
        <p:spPr>
          <a:xfrm>
            <a:off x="457200" y="3246120"/>
            <a:ext cx="8229600" cy="27432"/>
          </a:xfrm>
          <a:prstGeom prst="rect">
            <a:avLst/>
          </a:prstGeom>
          <a:solidFill>
            <a:srgbClr val="F59E0B">
              <a:alpha val="60000"/>
            </a:srgbClr>
          </a:solidFill>
          <a:ln/>
        </p:spPr>
      </p:sp>
      <p:sp>
        <p:nvSpPr>
          <p:cNvPr id="8" name="Text 5"/>
          <p:cNvSpPr/>
          <p:nvPr/>
        </p:nvSpPr>
        <p:spPr>
          <a:xfrm>
            <a:off x="457200" y="3383280"/>
            <a:ext cx="8229600" cy="1005840"/>
          </a:xfrm>
          <a:prstGeom prst="rect">
            <a:avLst/>
          </a:prstGeom>
          <a:noFill/>
          <a:ln/>
        </p:spPr>
        <p:txBody>
          <a:bodyPr wrap="square" rtlCol="0" anchor="ctr"/>
          <a:lstStyle/>
          <a:p>
            <a:pPr algn="l" indent="0" marL="0">
              <a:buNone/>
            </a:pPr>
            <a:r>
              <a:rPr lang="en-US" sz="1600" i="1" dirty="0">
                <a:solidFill>
                  <a:srgbClr val="DBEAFE"/>
                </a:solidFill>
                <a:latin typeface="Calibri" pitchFamily="34" charset="0"/>
                <a:ea typeface="Calibri" pitchFamily="34" charset="-122"/>
                <a:cs typeface="Calibri" pitchFamily="34" charset="-120"/>
              </a:rPr>
              <a:t>"You can't delete a bad review.</a:t>
            </a:r>
            <a:endParaRPr lang="en-US" sz="1600" dirty="0"/>
          </a:p>
          <a:p>
            <a:pPr algn="l" indent="0" marL="0">
              <a:buNone/>
            </a:pPr>
            <a:r>
              <a:rPr lang="en-US" sz="1600" i="1" dirty="0">
                <a:solidFill>
                  <a:srgbClr val="DBEAFE"/>
                </a:solidFill>
                <a:latin typeface="Calibri" pitchFamily="34" charset="0"/>
                <a:ea typeface="Calibri" pitchFamily="34" charset="-122"/>
                <a:cs typeface="Calibri" pitchFamily="34" charset="-120"/>
              </a:rPr>
              <a:t>But you can fix what caused it — before the world reads it."</a:t>
            </a:r>
            <a:endParaRPr lang="en-US" sz="1600" dirty="0"/>
          </a:p>
        </p:txBody>
      </p:sp>
      <p:sp>
        <p:nvSpPr>
          <p:cNvPr id="9" name="Text 6"/>
          <p:cNvSpPr/>
          <p:nvPr/>
        </p:nvSpPr>
        <p:spPr>
          <a:xfrm>
            <a:off x="457200" y="4526280"/>
            <a:ext cx="8229600" cy="365760"/>
          </a:xfrm>
          <a:prstGeom prst="rect">
            <a:avLst/>
          </a:prstGeom>
          <a:noFill/>
          <a:ln/>
        </p:spPr>
        <p:txBody>
          <a:bodyPr wrap="square" rtlCol="0" anchor="ctr"/>
          <a:lstStyle/>
          <a:p>
            <a:pPr algn="l" indent="0" marL="0">
              <a:buNone/>
            </a:pPr>
            <a:r>
              <a:rPr lang="en-US" sz="1000" dirty="0">
                <a:solidFill>
                  <a:srgbClr val="64748B"/>
                </a:solidFill>
                <a:latin typeface="Calibri" pitchFamily="34" charset="0"/>
                <a:ea typeface="Calibri" pitchFamily="34" charset="-122"/>
                <a:cs typeface="Calibri" pitchFamily="34" charset="-120"/>
              </a:rPr>
              <a:t>A 15-Minute Pitch  ·  10 Slides  ·  Every Number Pulled Live from Real Kingsbury Reviews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A2856"/>
          </a:solidFill>
          <a:ln/>
        </p:spPr>
      </p:sp>
      <p:sp>
        <p:nvSpPr>
          <p:cNvPr id="3" name="Text 1"/>
          <p:cNvSpPr/>
          <p:nvPr/>
        </p:nvSpPr>
        <p:spPr>
          <a:xfrm>
            <a:off x="457200" y="201168"/>
            <a:ext cx="8229600" cy="320040"/>
          </a:xfrm>
          <a:prstGeom prst="rect">
            <a:avLst/>
          </a:prstGeom>
          <a:noFill/>
          <a:ln/>
        </p:spPr>
        <p:txBody>
          <a:bodyPr wrap="square" rtlCol="0" anchor="ctr"/>
          <a:lstStyle/>
          <a:p>
            <a:pPr indent="0" marL="0">
              <a:buNone/>
            </a:pPr>
            <a:r>
              <a:rPr lang="en-US" sz="1100" b="1" spc="300" kern="0" dirty="0">
                <a:solidFill>
                  <a:srgbClr val="F59E0B"/>
                </a:solidFill>
                <a:latin typeface="Calibri" pitchFamily="34" charset="0"/>
                <a:ea typeface="Calibri" pitchFamily="34" charset="-122"/>
                <a:cs typeface="Calibri" pitchFamily="34" charset="-120"/>
              </a:rPr>
              <a:t>THE PROBLEM</a:t>
            </a:r>
            <a:endParaRPr lang="en-US" sz="1100" dirty="0"/>
          </a:p>
        </p:txBody>
      </p:sp>
      <p:sp>
        <p:nvSpPr>
          <p:cNvPr id="4" name="Text 2"/>
          <p:cNvSpPr/>
          <p:nvPr/>
        </p:nvSpPr>
        <p:spPr>
          <a:xfrm>
            <a:off x="457200" y="475488"/>
            <a:ext cx="8229600" cy="502920"/>
          </a:xfrm>
          <a:prstGeom prst="rect">
            <a:avLst/>
          </a:prstGeom>
          <a:noFill/>
          <a:ln/>
        </p:spPr>
        <p:txBody>
          <a:bodyPr wrap="square" rtlCol="0" anchor="ctr"/>
          <a:lstStyle/>
          <a:p>
            <a:pPr indent="0" marL="0">
              <a:buNone/>
            </a:pPr>
            <a:r>
              <a:rPr lang="en-US" sz="2600" b="1" dirty="0">
                <a:solidFill>
                  <a:srgbClr val="1A2856"/>
                </a:solidFill>
                <a:latin typeface="Cambria" pitchFamily="34" charset="0"/>
                <a:ea typeface="Cambria" pitchFamily="34" charset="-122"/>
                <a:cs typeface="Cambria" pitchFamily="34" charset="-120"/>
              </a:rPr>
              <a:t>This Is How a Guest Decides Today</a:t>
            </a:r>
            <a:endParaRPr lang="en-US" sz="2600" dirty="0"/>
          </a:p>
        </p:txBody>
      </p:sp>
      <p:sp>
        <p:nvSpPr>
          <p:cNvPr id="5" name="Shape 3"/>
          <p:cNvSpPr/>
          <p:nvPr/>
        </p:nvSpPr>
        <p:spPr>
          <a:xfrm>
            <a:off x="411480" y="1170432"/>
            <a:ext cx="7772400" cy="594360"/>
          </a:xfrm>
          <a:prstGeom prst="roundRect">
            <a:avLst>
              <a:gd name="adj" fmla="val 18462"/>
            </a:avLst>
          </a:prstGeom>
          <a:solidFill>
            <a:srgbClr val="DBEAFE"/>
          </a:solidFill>
          <a:ln/>
          <a:effectLst>
            <a:outerShdw sx="100000" sy="100000" kx="0" ky="0" algn="bl" rotWithShape="0" blurRad="76200" dist="25400" dir="2700000">
              <a:srgbClr val="000000">
                <a:alpha val="10000"/>
              </a:srgbClr>
            </a:outerShdw>
          </a:effectLst>
        </p:spPr>
      </p:sp>
      <p:sp>
        <p:nvSpPr>
          <p:cNvPr id="6" name="Text 4"/>
          <p:cNvSpPr/>
          <p:nvPr/>
        </p:nvSpPr>
        <p:spPr>
          <a:xfrm>
            <a:off x="594360" y="1216152"/>
            <a:ext cx="502920" cy="228600"/>
          </a:xfrm>
          <a:prstGeom prst="rect">
            <a:avLst/>
          </a:prstGeom>
          <a:noFill/>
          <a:ln/>
        </p:spPr>
        <p:txBody>
          <a:bodyPr wrap="square" lIns="0" tIns="0" rIns="0" bIns="0" rtlCol="0" anchor="ctr"/>
          <a:lstStyle/>
          <a:p>
            <a:pPr indent="0" marL="0">
              <a:buNone/>
            </a:pPr>
            <a:r>
              <a:rPr lang="en-US" sz="1100" b="1" dirty="0">
                <a:solidFill>
                  <a:srgbClr val="1A2856"/>
                </a:solidFill>
                <a:latin typeface="Calibri" pitchFamily="34" charset="0"/>
                <a:ea typeface="Calibri" pitchFamily="34" charset="-122"/>
                <a:cs typeface="Calibri" pitchFamily="34" charset="-120"/>
              </a:rPr>
              <a:t>You:</a:t>
            </a:r>
            <a:endParaRPr lang="en-US" sz="1100" dirty="0"/>
          </a:p>
        </p:txBody>
      </p:sp>
      <p:sp>
        <p:nvSpPr>
          <p:cNvPr id="7" name="Text 5"/>
          <p:cNvSpPr/>
          <p:nvPr/>
        </p:nvSpPr>
        <p:spPr>
          <a:xfrm>
            <a:off x="1097280" y="1216152"/>
            <a:ext cx="6858000" cy="457200"/>
          </a:xfrm>
          <a:prstGeom prst="rect">
            <a:avLst/>
          </a:prstGeom>
          <a:noFill/>
          <a:ln/>
        </p:spPr>
        <p:txBody>
          <a:bodyPr wrap="square" lIns="0" tIns="0" rIns="0" bIns="0" rtlCol="0" anchor="ctr"/>
          <a:lstStyle/>
          <a:p>
            <a:pPr indent="0" marL="0">
              <a:buNone/>
            </a:pPr>
            <a:r>
              <a:rPr lang="en-US" sz="1300" i="1" dirty="0">
                <a:solidFill>
                  <a:srgbClr val="334155"/>
                </a:solidFill>
                <a:latin typeface="Calibri" pitchFamily="34" charset="0"/>
                <a:ea typeface="Calibri" pitchFamily="34" charset="-122"/>
                <a:cs typeface="Calibri" pitchFamily="34" charset="-120"/>
              </a:rPr>
              <a:t>"Is The Kingsbury Colombo a good hotel?"</a:t>
            </a:r>
            <a:endParaRPr lang="en-US" sz="1300" dirty="0"/>
          </a:p>
        </p:txBody>
      </p:sp>
      <p:sp>
        <p:nvSpPr>
          <p:cNvPr id="8" name="Shape 6"/>
          <p:cNvSpPr/>
          <p:nvPr/>
        </p:nvSpPr>
        <p:spPr>
          <a:xfrm>
            <a:off x="411480" y="1920240"/>
            <a:ext cx="7772400" cy="1417320"/>
          </a:xfrm>
          <a:prstGeom prst="roundRect">
            <a:avLst>
              <a:gd name="adj" fmla="val 7742"/>
            </a:avLst>
          </a:prstGeom>
          <a:solidFill>
            <a:srgbClr val="1A2856"/>
          </a:solidFill>
          <a:ln/>
          <a:effectLst>
            <a:outerShdw sx="100000" sy="100000" kx="0" ky="0" algn="bl" rotWithShape="0" blurRad="101600" dist="38100" dir="2700000">
              <a:srgbClr val="000000">
                <a:alpha val="13000"/>
              </a:srgbClr>
            </a:outerShdw>
          </a:effectLst>
        </p:spPr>
      </p:sp>
      <p:pic>
        <p:nvPicPr>
          <p:cNvPr id="9" name="Image 0" descr="preencoded.png">    </p:cNvPr>
          <p:cNvPicPr>
            <a:picLocks noChangeAspect="1"/>
          </p:cNvPicPr>
          <p:nvPr/>
        </p:nvPicPr>
        <p:blipFill>
          <a:blip r:embed="rId1"/>
          <a:stretch>
            <a:fillRect/>
          </a:stretch>
        </p:blipFill>
        <p:spPr>
          <a:xfrm>
            <a:off x="594360" y="2011680"/>
            <a:ext cx="347472" cy="347472"/>
          </a:xfrm>
          <a:prstGeom prst="rect">
            <a:avLst/>
          </a:prstGeom>
        </p:spPr>
      </p:pic>
      <p:sp>
        <p:nvSpPr>
          <p:cNvPr id="10" name="Text 7"/>
          <p:cNvSpPr/>
          <p:nvPr/>
        </p:nvSpPr>
        <p:spPr>
          <a:xfrm>
            <a:off x="1005840" y="2039112"/>
            <a:ext cx="365760" cy="256032"/>
          </a:xfrm>
          <a:prstGeom prst="rect">
            <a:avLst/>
          </a:prstGeom>
          <a:noFill/>
          <a:ln/>
        </p:spPr>
        <p:txBody>
          <a:bodyPr wrap="square" lIns="0" tIns="0" rIns="0" bIns="0" rtlCol="0" anchor="ctr"/>
          <a:lstStyle/>
          <a:p>
            <a:pPr indent="0" marL="0">
              <a:buNone/>
            </a:pPr>
            <a:r>
              <a:rPr lang="en-US" sz="1100" b="1" dirty="0">
                <a:solidFill>
                  <a:srgbClr val="F59E0B"/>
                </a:solidFill>
                <a:latin typeface="Calibri" pitchFamily="34" charset="0"/>
                <a:ea typeface="Calibri" pitchFamily="34" charset="-122"/>
                <a:cs typeface="Calibri" pitchFamily="34" charset="-120"/>
              </a:rPr>
              <a:t>AI:</a:t>
            </a:r>
            <a:endParaRPr lang="en-US" sz="1100" dirty="0"/>
          </a:p>
        </p:txBody>
      </p:sp>
      <p:sp>
        <p:nvSpPr>
          <p:cNvPr id="11" name="Text 8"/>
          <p:cNvSpPr/>
          <p:nvPr/>
        </p:nvSpPr>
        <p:spPr>
          <a:xfrm>
            <a:off x="1371600" y="1993392"/>
            <a:ext cx="6583680" cy="1234440"/>
          </a:xfrm>
          <a:prstGeom prst="rect">
            <a:avLst/>
          </a:prstGeom>
          <a:noFill/>
          <a:ln/>
        </p:spPr>
        <p:txBody>
          <a:bodyPr wrap="square"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"Yes — it's a well-regarded 5-star property. That said, some guests mention </a:t>
            </a:r>
            <a:pPr indent="0" marL="0">
              <a:buNone/>
            </a:pPr>
            <a:r>
              <a:rPr lang="en-US" sz="1300" b="1" i="1" dirty="0">
                <a:solidFill>
                  <a:srgbClr val="F59E0B"/>
                </a:solidFill>
                <a:latin typeface="Calibri" pitchFamily="34" charset="0"/>
                <a:ea typeface="Calibri" pitchFamily="34" charset="-122"/>
                <a:cs typeface="Calibri" pitchFamily="34" charset="-120"/>
              </a:rPr>
              <a:t>dated room conditions, noise from poolside / live music, and occasional service inconsistency</a:t>
            </a:r>
            <a:pPr indent="0" marL="0">
              <a:buNone/>
            </a:pPr>
            <a:r>
              <a:rPr lang="en-US" sz="1300" i="1" dirty="0">
                <a:solidFill>
                  <a:srgbClr val="FFFFFF"/>
                </a:solidFill>
                <a:latin typeface="Calibri" pitchFamily="34" charset="0"/>
                <a:ea typeface="Calibri" pitchFamily="34" charset="-122"/>
                <a:cs typeface="Calibri" pitchFamily="34" charset="-120"/>
              </a:rPr>
              <a:t>."</a:t>
            </a:r>
            <a:endParaRPr lang="en-US" sz="1300" dirty="0"/>
          </a:p>
        </p:txBody>
      </p:sp>
      <p:sp>
        <p:nvSpPr>
          <p:cNvPr id="12" name="Shape 9"/>
          <p:cNvSpPr/>
          <p:nvPr/>
        </p:nvSpPr>
        <p:spPr>
          <a:xfrm>
            <a:off x="411480" y="3547872"/>
            <a:ext cx="1965960" cy="1097280"/>
          </a:xfrm>
          <a:prstGeom prst="roundRect">
            <a:avLst>
              <a:gd name="adj" fmla="val 6667"/>
            </a:avLst>
          </a:prstGeom>
          <a:solidFill>
            <a:srgbClr val="FFFFFF"/>
          </a:solidFill>
          <a:ln w="12700">
            <a:solidFill>
              <a:srgbClr val="E2E8F0"/>
            </a:solidFill>
            <a:prstDash val="solid"/>
          </a:ln>
          <a:effectLst>
            <a:outerShdw sx="100000" sy="100000" kx="0" ky="0" algn="bl" rotWithShape="0" blurRad="76200" dist="25400" dir="2700000">
              <a:srgbClr val="000000">
                <a:alpha val="10000"/>
              </a:srgbClr>
            </a:outerShdw>
          </a:effectLst>
        </p:spPr>
      </p:sp>
      <p:sp>
        <p:nvSpPr>
          <p:cNvPr id="13" name="Text 10"/>
          <p:cNvSpPr/>
          <p:nvPr/>
        </p:nvSpPr>
        <p:spPr>
          <a:xfrm>
            <a:off x="411480" y="3611880"/>
            <a:ext cx="1965960" cy="530352"/>
          </a:xfrm>
          <a:prstGeom prst="rect">
            <a:avLst/>
          </a:prstGeom>
          <a:noFill/>
          <a:ln/>
        </p:spPr>
        <p:txBody>
          <a:bodyPr wrap="square" rtlCol="0" anchor="ctr"/>
          <a:lstStyle/>
          <a:p>
            <a:pPr algn="ctr" indent="0" marL="0">
              <a:buNone/>
            </a:pPr>
            <a:r>
              <a:rPr lang="en-US" sz="2200" b="1" dirty="0">
                <a:solidFill>
                  <a:srgbClr val="1A2856"/>
                </a:solidFill>
                <a:latin typeface="Cambria" pitchFamily="34" charset="0"/>
                <a:ea typeface="Cambria" pitchFamily="34" charset="-122"/>
                <a:cs typeface="Cambria" pitchFamily="34" charset="-120"/>
              </a:rPr>
              <a:t>4.0 / 5</a:t>
            </a:r>
            <a:endParaRPr lang="en-US" sz="2200" dirty="0"/>
          </a:p>
        </p:txBody>
      </p:sp>
      <p:sp>
        <p:nvSpPr>
          <p:cNvPr id="14" name="Text 11"/>
          <p:cNvSpPr/>
          <p:nvPr/>
        </p:nvSpPr>
        <p:spPr>
          <a:xfrm>
            <a:off x="411480" y="4114800"/>
            <a:ext cx="1965960" cy="320040"/>
          </a:xfrm>
          <a:prstGeom prst="rect">
            <a:avLst/>
          </a:prstGeom>
          <a:noFill/>
          <a:ln/>
        </p:spPr>
        <p:txBody>
          <a:bodyPr wrap="square"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TripAdvisor</a:t>
            </a:r>
            <a:endParaRPr lang="en-US" sz="1000" dirty="0"/>
          </a:p>
        </p:txBody>
      </p:sp>
      <p:sp>
        <p:nvSpPr>
          <p:cNvPr id="15" name="Shape 12"/>
          <p:cNvSpPr/>
          <p:nvPr/>
        </p:nvSpPr>
        <p:spPr>
          <a:xfrm>
            <a:off x="2560320" y="3547872"/>
            <a:ext cx="1965960" cy="1097280"/>
          </a:xfrm>
          <a:prstGeom prst="roundRect">
            <a:avLst>
              <a:gd name="adj" fmla="val 6667"/>
            </a:avLst>
          </a:prstGeom>
          <a:solidFill>
            <a:srgbClr val="FFFFFF"/>
          </a:solidFill>
          <a:ln w="12700">
            <a:solidFill>
              <a:srgbClr val="E2E8F0"/>
            </a:solidFill>
            <a:prstDash val="solid"/>
          </a:ln>
          <a:effectLst>
            <a:outerShdw sx="100000" sy="100000" kx="0" ky="0" algn="bl" rotWithShape="0" blurRad="76200" dist="25400" dir="2700000">
              <a:srgbClr val="000000">
                <a:alpha val="10000"/>
              </a:srgbClr>
            </a:outerShdw>
          </a:effectLst>
        </p:spPr>
      </p:sp>
      <p:sp>
        <p:nvSpPr>
          <p:cNvPr id="16" name="Text 13"/>
          <p:cNvSpPr/>
          <p:nvPr/>
        </p:nvSpPr>
        <p:spPr>
          <a:xfrm>
            <a:off x="2560320" y="3611880"/>
            <a:ext cx="1965960" cy="530352"/>
          </a:xfrm>
          <a:prstGeom prst="rect">
            <a:avLst/>
          </a:prstGeom>
          <a:noFill/>
          <a:ln/>
        </p:spPr>
        <p:txBody>
          <a:bodyPr wrap="square" rtlCol="0" anchor="ctr"/>
          <a:lstStyle/>
          <a:p>
            <a:pPr algn="ctr" indent="0" marL="0">
              <a:buNone/>
            </a:pPr>
            <a:r>
              <a:rPr lang="en-US" sz="2200" b="1" dirty="0">
                <a:solidFill>
                  <a:srgbClr val="1A2856"/>
                </a:solidFill>
                <a:latin typeface="Cambria" pitchFamily="34" charset="0"/>
                <a:ea typeface="Cambria" pitchFamily="34" charset="-122"/>
                <a:cs typeface="Cambria" pitchFamily="34" charset="-120"/>
              </a:rPr>
              <a:t>#32 of 103</a:t>
            </a:r>
            <a:endParaRPr lang="en-US" sz="2200" dirty="0"/>
          </a:p>
        </p:txBody>
      </p:sp>
      <p:sp>
        <p:nvSpPr>
          <p:cNvPr id="17" name="Text 14"/>
          <p:cNvSpPr/>
          <p:nvPr/>
        </p:nvSpPr>
        <p:spPr>
          <a:xfrm>
            <a:off x="2560320" y="4114800"/>
            <a:ext cx="1965960" cy="320040"/>
          </a:xfrm>
          <a:prstGeom prst="rect">
            <a:avLst/>
          </a:prstGeom>
          <a:noFill/>
          <a:ln/>
        </p:spPr>
        <p:txBody>
          <a:bodyPr wrap="square"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Hotel Rank</a:t>
            </a:r>
            <a:endParaRPr lang="en-US" sz="1000" dirty="0"/>
          </a:p>
        </p:txBody>
      </p:sp>
      <p:sp>
        <p:nvSpPr>
          <p:cNvPr id="18" name="Shape 15"/>
          <p:cNvSpPr/>
          <p:nvPr/>
        </p:nvSpPr>
        <p:spPr>
          <a:xfrm>
            <a:off x="4709160" y="3547872"/>
            <a:ext cx="1965960" cy="1097280"/>
          </a:xfrm>
          <a:prstGeom prst="roundRect">
            <a:avLst>
              <a:gd name="adj" fmla="val 6667"/>
            </a:avLst>
          </a:prstGeom>
          <a:solidFill>
            <a:srgbClr val="FFFFFF"/>
          </a:solidFill>
          <a:ln w="12700">
            <a:solidFill>
              <a:srgbClr val="E2E8F0"/>
            </a:solidFill>
            <a:prstDash val="solid"/>
          </a:ln>
          <a:effectLst>
            <a:outerShdw sx="100000" sy="100000" kx="0" ky="0" algn="bl" rotWithShape="0" blurRad="76200" dist="25400" dir="2700000">
              <a:srgbClr val="000000">
                <a:alpha val="10000"/>
              </a:srgbClr>
            </a:outerShdw>
          </a:effectLst>
        </p:spPr>
      </p:sp>
      <p:sp>
        <p:nvSpPr>
          <p:cNvPr id="19" name="Text 16"/>
          <p:cNvSpPr/>
          <p:nvPr/>
        </p:nvSpPr>
        <p:spPr>
          <a:xfrm>
            <a:off x="4709160" y="3611880"/>
            <a:ext cx="1965960" cy="530352"/>
          </a:xfrm>
          <a:prstGeom prst="rect">
            <a:avLst/>
          </a:prstGeom>
          <a:noFill/>
          <a:ln/>
        </p:spPr>
        <p:txBody>
          <a:bodyPr wrap="square" rtlCol="0" anchor="ctr"/>
          <a:lstStyle/>
          <a:p>
            <a:pPr algn="ctr" indent="0" marL="0">
              <a:buNone/>
            </a:pPr>
            <a:r>
              <a:rPr lang="en-US" sz="2200" b="1" dirty="0">
                <a:solidFill>
                  <a:srgbClr val="1A2856"/>
                </a:solidFill>
                <a:latin typeface="Cambria" pitchFamily="34" charset="0"/>
                <a:ea typeface="Cambria" pitchFamily="34" charset="-122"/>
                <a:cs typeface="Cambria" pitchFamily="34" charset="-120"/>
              </a:rPr>
              <a:t>~7,092</a:t>
            </a:r>
            <a:endParaRPr lang="en-US" sz="2200" dirty="0"/>
          </a:p>
        </p:txBody>
      </p:sp>
      <p:sp>
        <p:nvSpPr>
          <p:cNvPr id="20" name="Text 17"/>
          <p:cNvSpPr/>
          <p:nvPr/>
        </p:nvSpPr>
        <p:spPr>
          <a:xfrm>
            <a:off x="4709160" y="4114800"/>
            <a:ext cx="1965960" cy="320040"/>
          </a:xfrm>
          <a:prstGeom prst="rect">
            <a:avLst/>
          </a:prstGeom>
          <a:noFill/>
          <a:ln/>
        </p:spPr>
        <p:txBody>
          <a:bodyPr wrap="square"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Total Reviews</a:t>
            </a:r>
            <a:endParaRPr lang="en-US" sz="1000" dirty="0"/>
          </a:p>
        </p:txBody>
      </p:sp>
      <p:sp>
        <p:nvSpPr>
          <p:cNvPr id="21" name="Shape 18"/>
          <p:cNvSpPr/>
          <p:nvPr/>
        </p:nvSpPr>
        <p:spPr>
          <a:xfrm>
            <a:off x="6858000" y="3547872"/>
            <a:ext cx="1965960" cy="1097280"/>
          </a:xfrm>
          <a:prstGeom prst="roundRect">
            <a:avLst>
              <a:gd name="adj" fmla="val 6667"/>
            </a:avLst>
          </a:prstGeom>
          <a:solidFill>
            <a:srgbClr val="FFFFFF"/>
          </a:solidFill>
          <a:ln w="12700">
            <a:solidFill>
              <a:srgbClr val="E2E8F0"/>
            </a:solidFill>
            <a:prstDash val="solid"/>
          </a:ln>
          <a:effectLst>
            <a:outerShdw sx="100000" sy="100000" kx="0" ky="0" algn="bl" rotWithShape="0" blurRad="76200" dist="25400" dir="2700000">
              <a:srgbClr val="000000">
                <a:alpha val="10000"/>
              </a:srgbClr>
            </a:outerShdw>
          </a:effectLst>
        </p:spPr>
      </p:sp>
      <p:sp>
        <p:nvSpPr>
          <p:cNvPr id="22" name="Text 19"/>
          <p:cNvSpPr/>
          <p:nvPr/>
        </p:nvSpPr>
        <p:spPr>
          <a:xfrm>
            <a:off x="6858000" y="3611880"/>
            <a:ext cx="1965960" cy="530352"/>
          </a:xfrm>
          <a:prstGeom prst="rect">
            <a:avLst/>
          </a:prstGeom>
          <a:noFill/>
          <a:ln/>
        </p:spPr>
        <p:txBody>
          <a:bodyPr wrap="square" rtlCol="0" anchor="ctr"/>
          <a:lstStyle/>
          <a:p>
            <a:pPr algn="ctr" indent="0" marL="0">
              <a:buNone/>
            </a:pPr>
            <a:r>
              <a:rPr lang="en-US" sz="2200" b="1" dirty="0">
                <a:solidFill>
                  <a:srgbClr val="DC2626"/>
                </a:solidFill>
                <a:latin typeface="Cambria" pitchFamily="34" charset="0"/>
                <a:ea typeface="Cambria" pitchFamily="34" charset="-122"/>
                <a:cs typeface="Cambria" pitchFamily="34" charset="-120"/>
              </a:rPr>
              <a:t>201</a:t>
            </a:r>
            <a:endParaRPr lang="en-US" sz="2200" dirty="0"/>
          </a:p>
        </p:txBody>
      </p:sp>
      <p:sp>
        <p:nvSpPr>
          <p:cNvPr id="23" name="Text 20"/>
          <p:cNvSpPr/>
          <p:nvPr/>
        </p:nvSpPr>
        <p:spPr>
          <a:xfrm>
            <a:off x="6858000" y="4114800"/>
            <a:ext cx="1965960" cy="320040"/>
          </a:xfrm>
          <a:prstGeom prst="rect">
            <a:avLst/>
          </a:prstGeom>
          <a:noFill/>
          <a:ln/>
        </p:spPr>
        <p:txBody>
          <a:bodyPr wrap="square"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Noise Mentions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A2856"/>
          </a:solidFill>
          <a:ln/>
        </p:spPr>
      </p:sp>
      <p:sp>
        <p:nvSpPr>
          <p:cNvPr id="3" name="Text 1"/>
          <p:cNvSpPr/>
          <p:nvPr/>
        </p:nvSpPr>
        <p:spPr>
          <a:xfrm>
            <a:off x="457200" y="201168"/>
            <a:ext cx="8229600" cy="320040"/>
          </a:xfrm>
          <a:prstGeom prst="rect">
            <a:avLst/>
          </a:prstGeom>
          <a:noFill/>
          <a:ln/>
        </p:spPr>
        <p:txBody>
          <a:bodyPr wrap="square" rtlCol="0" anchor="ctr"/>
          <a:lstStyle/>
          <a:p>
            <a:pPr indent="0" marL="0">
              <a:buNone/>
            </a:pPr>
            <a:r>
              <a:rPr lang="en-US" sz="1100" b="1" spc="300" kern="0" dirty="0">
                <a:solidFill>
                  <a:srgbClr val="F59E0B"/>
                </a:solidFill>
                <a:latin typeface="Calibri" pitchFamily="34" charset="0"/>
                <a:ea typeface="Calibri" pitchFamily="34" charset="-122"/>
                <a:cs typeface="Calibri" pitchFamily="34" charset="-120"/>
              </a:rPr>
              <a:t>OUR INSIGHT</a:t>
            </a:r>
            <a:endParaRPr lang="en-US" sz="1100" dirty="0"/>
          </a:p>
        </p:txBody>
      </p:sp>
      <p:sp>
        <p:nvSpPr>
          <p:cNvPr id="4" name="Text 2"/>
          <p:cNvSpPr/>
          <p:nvPr/>
        </p:nvSpPr>
        <p:spPr>
          <a:xfrm>
            <a:off x="457200" y="475488"/>
            <a:ext cx="8229600" cy="502920"/>
          </a:xfrm>
          <a:prstGeom prst="rect">
            <a:avLst/>
          </a:prstGeom>
          <a:noFill/>
          <a:ln/>
        </p:spPr>
        <p:txBody>
          <a:bodyPr wrap="square" rtlCol="0" anchor="ctr"/>
          <a:lstStyle/>
          <a:p>
            <a:pPr indent="0" marL="0">
              <a:buNone/>
            </a:pPr>
            <a:r>
              <a:rPr lang="en-US" sz="2600" b="1" dirty="0">
                <a:solidFill>
                  <a:srgbClr val="1A2856"/>
                </a:solidFill>
                <a:latin typeface="Cambria" pitchFamily="34" charset="0"/>
                <a:ea typeface="Cambria" pitchFamily="34" charset="-122"/>
                <a:cs typeface="Cambria" pitchFamily="34" charset="-120"/>
              </a:rPr>
              <a:t>What Everyone Does vs. What We Do</a:t>
            </a:r>
            <a:endParaRPr lang="en-US" sz="2600" dirty="0"/>
          </a:p>
        </p:txBody>
      </p:sp>
      <p:sp>
        <p:nvSpPr>
          <p:cNvPr id="5" name="Shape 3"/>
          <p:cNvSpPr/>
          <p:nvPr/>
        </p:nvSpPr>
        <p:spPr>
          <a:xfrm>
            <a:off x="365760" y="1143000"/>
            <a:ext cx="3886200" cy="2651760"/>
          </a:xfrm>
          <a:prstGeom prst="roundRect">
            <a:avLst>
              <a:gd name="adj" fmla="val 4138"/>
            </a:avLst>
          </a:prstGeom>
          <a:solidFill>
            <a:srgbClr val="FFFFFF"/>
          </a:solidFill>
          <a:ln w="12700">
            <a:solidFill>
              <a:srgbClr val="E2E8F0"/>
            </a:solidFill>
            <a:prstDash val="solid"/>
          </a:ln>
          <a:effectLst>
            <a:outerShdw sx="100000" sy="100000" kx="0" ky="0" algn="bl" rotWithShape="0" blurRad="76200" dist="25400" dir="2700000">
              <a:srgbClr val="000000">
                <a:alpha val="10000"/>
              </a:srgbClr>
            </a:outerShdw>
          </a:effectLst>
        </p:spPr>
      </p:sp>
      <p:sp>
        <p:nvSpPr>
          <p:cNvPr id="6" name="Text 4"/>
          <p:cNvSpPr/>
          <p:nvPr/>
        </p:nvSpPr>
        <p:spPr>
          <a:xfrm>
            <a:off x="502920" y="1280160"/>
            <a:ext cx="3611880" cy="320040"/>
          </a:xfrm>
          <a:prstGeom prst="rect">
            <a:avLst/>
          </a:prstGeom>
          <a:noFill/>
          <a:ln/>
        </p:spPr>
        <p:txBody>
          <a:bodyPr wrap="square" rtlCol="0" anchor="ctr"/>
          <a:lstStyle/>
          <a:p>
            <a:pPr algn="ctr" indent="0" marL="0">
              <a:buNone/>
            </a:pPr>
            <a:r>
              <a:rPr lang="en-US" sz="900" b="1" spc="200" kern="0" dirty="0">
                <a:solidFill>
                  <a:srgbClr val="64748B"/>
                </a:solidFill>
                <a:latin typeface="Calibri" pitchFamily="34" charset="0"/>
                <a:ea typeface="Calibri" pitchFamily="34" charset="-122"/>
                <a:cs typeface="Calibri" pitchFamily="34" charset="-120"/>
              </a:rPr>
              <a:t>WHAT EVERYONE DOES TODAY</a:t>
            </a:r>
            <a:endParaRPr lang="en-US" sz="900" dirty="0"/>
          </a:p>
        </p:txBody>
      </p:sp>
      <p:sp>
        <p:nvSpPr>
          <p:cNvPr id="7" name="Text 5"/>
          <p:cNvSpPr/>
          <p:nvPr/>
        </p:nvSpPr>
        <p:spPr>
          <a:xfrm>
            <a:off x="502920" y="1664208"/>
            <a:ext cx="3611880" cy="347472"/>
          </a:xfrm>
          <a:prstGeom prst="rect">
            <a:avLst/>
          </a:prstGeom>
          <a:noFill/>
          <a:ln/>
        </p:spPr>
        <p:txBody>
          <a:bodyPr wrap="square" rtlCol="0" anchor="ctr"/>
          <a:lstStyle/>
          <a:p>
            <a:pPr algn="ctr" indent="0" marL="0">
              <a:buNone/>
            </a:pPr>
            <a:r>
              <a:rPr lang="en-US" sz="1400" b="1" dirty="0">
                <a:solidFill>
                  <a:srgbClr val="334155"/>
                </a:solidFill>
                <a:latin typeface="Cambria" pitchFamily="34" charset="0"/>
                <a:ea typeface="Cambria" pitchFamily="34" charset="-122"/>
                <a:cs typeface="Cambria" pitchFamily="34" charset="-120"/>
              </a:rPr>
              <a:t>AI / ChatGPT mines reviews</a:t>
            </a:r>
            <a:endParaRPr lang="en-US" sz="1400" dirty="0"/>
          </a:p>
        </p:txBody>
      </p:sp>
      <p:sp>
        <p:nvSpPr>
          <p:cNvPr id="8" name="Shape 6"/>
          <p:cNvSpPr/>
          <p:nvPr/>
        </p:nvSpPr>
        <p:spPr>
          <a:xfrm>
            <a:off x="594360" y="2148840"/>
            <a:ext cx="128016" cy="128016"/>
          </a:xfrm>
          <a:prstGeom prst="ellipse">
            <a:avLst/>
          </a:prstGeom>
          <a:solidFill>
            <a:srgbClr val="E2E8F0"/>
          </a:solidFill>
          <a:ln/>
        </p:spPr>
      </p:sp>
      <p:sp>
        <p:nvSpPr>
          <p:cNvPr id="9" name="Text 7"/>
          <p:cNvSpPr/>
          <p:nvPr/>
        </p:nvSpPr>
        <p:spPr>
          <a:xfrm>
            <a:off x="804672" y="2121408"/>
            <a:ext cx="3246120" cy="256032"/>
          </a:xfrm>
          <a:prstGeom prst="rect">
            <a:avLst/>
          </a:prstGeom>
          <a:noFill/>
          <a:ln/>
        </p:spPr>
        <p:txBody>
          <a:bodyPr wrap="square" rtlCol="0" anchor="ctr"/>
          <a:lstStyle/>
          <a:p>
            <a:pPr indent="0" marL="0">
              <a:buNone/>
            </a:pPr>
            <a:r>
              <a:rPr lang="en-US" sz="1200" dirty="0">
                <a:solidFill>
                  <a:srgbClr val="64748B"/>
                </a:solidFill>
                <a:latin typeface="Calibri" pitchFamily="34" charset="0"/>
                <a:ea typeface="Calibri" pitchFamily="34" charset="-122"/>
                <a:cs typeface="Calibri" pitchFamily="34" charset="-120"/>
              </a:rPr>
              <a:t>Generic output</a:t>
            </a:r>
            <a:endParaRPr lang="en-US" sz="1200" dirty="0"/>
          </a:p>
        </p:txBody>
      </p:sp>
      <p:sp>
        <p:nvSpPr>
          <p:cNvPr id="10" name="Shape 8"/>
          <p:cNvSpPr/>
          <p:nvPr/>
        </p:nvSpPr>
        <p:spPr>
          <a:xfrm>
            <a:off x="594360" y="2532888"/>
            <a:ext cx="128016" cy="128016"/>
          </a:xfrm>
          <a:prstGeom prst="ellipse">
            <a:avLst/>
          </a:prstGeom>
          <a:solidFill>
            <a:srgbClr val="E2E8F0"/>
          </a:solidFill>
          <a:ln/>
        </p:spPr>
      </p:sp>
      <p:sp>
        <p:nvSpPr>
          <p:cNvPr id="11" name="Text 9"/>
          <p:cNvSpPr/>
          <p:nvPr/>
        </p:nvSpPr>
        <p:spPr>
          <a:xfrm>
            <a:off x="804672" y="2505456"/>
            <a:ext cx="3246120" cy="256032"/>
          </a:xfrm>
          <a:prstGeom prst="rect">
            <a:avLst/>
          </a:prstGeom>
          <a:noFill/>
          <a:ln/>
        </p:spPr>
        <p:txBody>
          <a:bodyPr wrap="square" rtlCol="0" anchor="ctr"/>
          <a:lstStyle/>
          <a:p>
            <a:pPr indent="0" marL="0">
              <a:buNone/>
            </a:pPr>
            <a:r>
              <a:rPr lang="en-US" sz="1200" dirty="0">
                <a:solidFill>
                  <a:srgbClr val="64748B"/>
                </a:solidFill>
                <a:latin typeface="Calibri" pitchFamily="34" charset="0"/>
                <a:ea typeface="Calibri" pitchFamily="34" charset="-122"/>
                <a:cs typeface="Calibri" pitchFamily="34" charset="-120"/>
              </a:rPr>
              <a:t>Reactive — after damage is done</a:t>
            </a:r>
            <a:endParaRPr lang="en-US" sz="1200" dirty="0"/>
          </a:p>
        </p:txBody>
      </p:sp>
      <p:sp>
        <p:nvSpPr>
          <p:cNvPr id="12" name="Shape 10"/>
          <p:cNvSpPr/>
          <p:nvPr/>
        </p:nvSpPr>
        <p:spPr>
          <a:xfrm>
            <a:off x="594360" y="2916936"/>
            <a:ext cx="128016" cy="128016"/>
          </a:xfrm>
          <a:prstGeom prst="ellipse">
            <a:avLst/>
          </a:prstGeom>
          <a:solidFill>
            <a:srgbClr val="E2E8F0"/>
          </a:solidFill>
          <a:ln/>
        </p:spPr>
      </p:sp>
      <p:sp>
        <p:nvSpPr>
          <p:cNvPr id="13" name="Text 11"/>
          <p:cNvSpPr/>
          <p:nvPr/>
        </p:nvSpPr>
        <p:spPr>
          <a:xfrm>
            <a:off x="804672" y="2889504"/>
            <a:ext cx="3246120" cy="256032"/>
          </a:xfrm>
          <a:prstGeom prst="rect">
            <a:avLst/>
          </a:prstGeom>
          <a:noFill/>
          <a:ln/>
        </p:spPr>
        <p:txBody>
          <a:bodyPr wrap="square" rtlCol="0" anchor="ctr"/>
          <a:lstStyle/>
          <a:p>
            <a:pPr indent="0" marL="0">
              <a:buNone/>
            </a:pPr>
            <a:r>
              <a:rPr lang="en-US" sz="1200" dirty="0">
                <a:solidFill>
                  <a:srgbClr val="64748B"/>
                </a:solidFill>
                <a:latin typeface="Calibri" pitchFamily="34" charset="0"/>
                <a:ea typeface="Calibri" pitchFamily="34" charset="-122"/>
                <a:cs typeface="Calibri" pitchFamily="34" charset="-120"/>
              </a:rPr>
              <a:t>No department ownership</a:t>
            </a:r>
            <a:endParaRPr lang="en-US" sz="1200" dirty="0"/>
          </a:p>
        </p:txBody>
      </p:sp>
      <p:sp>
        <p:nvSpPr>
          <p:cNvPr id="14" name="Shape 12"/>
          <p:cNvSpPr/>
          <p:nvPr/>
        </p:nvSpPr>
        <p:spPr>
          <a:xfrm>
            <a:off x="594360" y="3300984"/>
            <a:ext cx="128016" cy="128016"/>
          </a:xfrm>
          <a:prstGeom prst="ellipse">
            <a:avLst/>
          </a:prstGeom>
          <a:solidFill>
            <a:srgbClr val="E2E8F0"/>
          </a:solidFill>
          <a:ln/>
        </p:spPr>
      </p:sp>
      <p:sp>
        <p:nvSpPr>
          <p:cNvPr id="15" name="Text 13"/>
          <p:cNvSpPr/>
          <p:nvPr/>
        </p:nvSpPr>
        <p:spPr>
          <a:xfrm>
            <a:off x="804672" y="3273552"/>
            <a:ext cx="3246120" cy="256032"/>
          </a:xfrm>
          <a:prstGeom prst="rect">
            <a:avLst/>
          </a:prstGeom>
          <a:noFill/>
          <a:ln/>
        </p:spPr>
        <p:txBody>
          <a:bodyPr wrap="square" rtlCol="0" anchor="ctr"/>
          <a:lstStyle/>
          <a:p>
            <a:pPr indent="0" marL="0">
              <a:buNone/>
            </a:pPr>
            <a:r>
              <a:rPr lang="en-US" sz="1200" dirty="0">
                <a:solidFill>
                  <a:srgbClr val="64748B"/>
                </a:solidFill>
                <a:latin typeface="Calibri" pitchFamily="34" charset="0"/>
                <a:ea typeface="Calibri" pitchFamily="34" charset="-122"/>
                <a:cs typeface="Calibri" pitchFamily="34" charset="-120"/>
              </a:rPr>
              <a:t>No early warning</a:t>
            </a:r>
            <a:endParaRPr lang="en-US" sz="1200" dirty="0"/>
          </a:p>
        </p:txBody>
      </p:sp>
      <p:sp>
        <p:nvSpPr>
          <p:cNvPr id="16" name="Shape 14"/>
          <p:cNvSpPr/>
          <p:nvPr/>
        </p:nvSpPr>
        <p:spPr>
          <a:xfrm>
            <a:off x="4892040" y="1143000"/>
            <a:ext cx="3886200" cy="2651760"/>
          </a:xfrm>
          <a:prstGeom prst="roundRect">
            <a:avLst>
              <a:gd name="adj" fmla="val 4138"/>
            </a:avLst>
          </a:prstGeom>
          <a:solidFill>
            <a:srgbClr val="1A2856"/>
          </a:solidFill>
          <a:ln/>
          <a:effectLst>
            <a:outerShdw sx="100000" sy="100000" kx="0" ky="0" algn="bl" rotWithShape="0" blurRad="101600" dist="38100" dir="2700000">
              <a:srgbClr val="000000">
                <a:alpha val="13000"/>
              </a:srgbClr>
            </a:outerShdw>
          </a:effectLst>
        </p:spPr>
      </p:sp>
      <p:sp>
        <p:nvSpPr>
          <p:cNvPr id="17" name="Text 15"/>
          <p:cNvSpPr/>
          <p:nvPr/>
        </p:nvSpPr>
        <p:spPr>
          <a:xfrm>
            <a:off x="5029200" y="1280160"/>
            <a:ext cx="3611880" cy="320040"/>
          </a:xfrm>
          <a:prstGeom prst="rect">
            <a:avLst/>
          </a:prstGeom>
          <a:noFill/>
          <a:ln/>
        </p:spPr>
        <p:txBody>
          <a:bodyPr wrap="square" rtlCol="0" anchor="ctr"/>
          <a:lstStyle/>
          <a:p>
            <a:pPr algn="ctr" indent="0" marL="0">
              <a:buNone/>
            </a:pPr>
            <a:r>
              <a:rPr lang="en-US" sz="900" b="1" spc="200" kern="0" dirty="0">
                <a:solidFill>
                  <a:srgbClr val="F59E0B"/>
                </a:solidFill>
                <a:latin typeface="Calibri" pitchFamily="34" charset="0"/>
                <a:ea typeface="Calibri" pitchFamily="34" charset="-122"/>
                <a:cs typeface="Calibri" pitchFamily="34" charset="-120"/>
              </a:rPr>
              <a:t>WHAT WE DO</a:t>
            </a:r>
            <a:endParaRPr lang="en-US" sz="900" dirty="0"/>
          </a:p>
        </p:txBody>
      </p:sp>
      <p:sp>
        <p:nvSpPr>
          <p:cNvPr id="18" name="Text 16"/>
          <p:cNvSpPr/>
          <p:nvPr/>
        </p:nvSpPr>
        <p:spPr>
          <a:xfrm>
            <a:off x="5029200" y="1664208"/>
            <a:ext cx="3611880" cy="347472"/>
          </a:xfrm>
          <a:prstGeom prst="rect">
            <a:avLst/>
          </a:prstGeom>
          <a:noFill/>
          <a:ln/>
        </p:spPr>
        <p:txBody>
          <a:bodyPr wrap="square"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Hotel-grade detection engine</a:t>
            </a:r>
            <a:endParaRPr lang="en-US" sz="1400" dirty="0"/>
          </a:p>
        </p:txBody>
      </p:sp>
      <p:sp>
        <p:nvSpPr>
          <p:cNvPr id="19" name="Shape 17"/>
          <p:cNvSpPr/>
          <p:nvPr/>
        </p:nvSpPr>
        <p:spPr>
          <a:xfrm>
            <a:off x="5074920" y="2148840"/>
            <a:ext cx="128016" cy="128016"/>
          </a:xfrm>
          <a:prstGeom prst="ellipse">
            <a:avLst/>
          </a:prstGeom>
          <a:solidFill>
            <a:srgbClr val="F59E0B"/>
          </a:solidFill>
          <a:ln/>
        </p:spPr>
      </p:sp>
      <p:sp>
        <p:nvSpPr>
          <p:cNvPr id="20" name="Text 18"/>
          <p:cNvSpPr/>
          <p:nvPr/>
        </p:nvSpPr>
        <p:spPr>
          <a:xfrm>
            <a:off x="5285232" y="2121408"/>
            <a:ext cx="3337560" cy="256032"/>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Domain-specific to hospitality</a:t>
            </a:r>
            <a:endParaRPr lang="en-US" sz="1200" dirty="0"/>
          </a:p>
        </p:txBody>
      </p:sp>
      <p:sp>
        <p:nvSpPr>
          <p:cNvPr id="21" name="Shape 19"/>
          <p:cNvSpPr/>
          <p:nvPr/>
        </p:nvSpPr>
        <p:spPr>
          <a:xfrm>
            <a:off x="5074920" y="2532888"/>
            <a:ext cx="128016" cy="128016"/>
          </a:xfrm>
          <a:prstGeom prst="ellipse">
            <a:avLst/>
          </a:prstGeom>
          <a:solidFill>
            <a:srgbClr val="F59E0B"/>
          </a:solidFill>
          <a:ln/>
        </p:spPr>
      </p:sp>
      <p:sp>
        <p:nvSpPr>
          <p:cNvPr id="22" name="Text 20"/>
          <p:cNvSpPr/>
          <p:nvPr/>
        </p:nvSpPr>
        <p:spPr>
          <a:xfrm>
            <a:off x="5285232" y="2505456"/>
            <a:ext cx="3337560" cy="256032"/>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Catches issue #1, not #200</a:t>
            </a:r>
            <a:endParaRPr lang="en-US" sz="1200" dirty="0"/>
          </a:p>
        </p:txBody>
      </p:sp>
      <p:sp>
        <p:nvSpPr>
          <p:cNvPr id="23" name="Shape 21"/>
          <p:cNvSpPr/>
          <p:nvPr/>
        </p:nvSpPr>
        <p:spPr>
          <a:xfrm>
            <a:off x="5074920" y="2916936"/>
            <a:ext cx="128016" cy="128016"/>
          </a:xfrm>
          <a:prstGeom prst="ellipse">
            <a:avLst/>
          </a:prstGeom>
          <a:solidFill>
            <a:srgbClr val="F59E0B"/>
          </a:solidFill>
          <a:ln/>
        </p:spPr>
      </p:sp>
      <p:sp>
        <p:nvSpPr>
          <p:cNvPr id="24" name="Text 22"/>
          <p:cNvSpPr/>
          <p:nvPr/>
        </p:nvSpPr>
        <p:spPr>
          <a:xfrm>
            <a:off x="5285232" y="2889504"/>
            <a:ext cx="3337560" cy="256032"/>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Evidence with room number &amp; time</a:t>
            </a:r>
            <a:endParaRPr lang="en-US" sz="1200" dirty="0"/>
          </a:p>
        </p:txBody>
      </p:sp>
      <p:sp>
        <p:nvSpPr>
          <p:cNvPr id="25" name="Shape 23"/>
          <p:cNvSpPr/>
          <p:nvPr/>
        </p:nvSpPr>
        <p:spPr>
          <a:xfrm>
            <a:off x="5074920" y="3300984"/>
            <a:ext cx="128016" cy="128016"/>
          </a:xfrm>
          <a:prstGeom prst="ellipse">
            <a:avLst/>
          </a:prstGeom>
          <a:solidFill>
            <a:srgbClr val="F59E0B"/>
          </a:solidFill>
          <a:ln/>
        </p:spPr>
      </p:sp>
      <p:sp>
        <p:nvSpPr>
          <p:cNvPr id="26" name="Text 24"/>
          <p:cNvSpPr/>
          <p:nvPr/>
        </p:nvSpPr>
        <p:spPr>
          <a:xfrm>
            <a:off x="5285232" y="3273552"/>
            <a:ext cx="3337560" cy="256032"/>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587 early-warning signals flagged</a:t>
            </a:r>
            <a:endParaRPr lang="en-US" sz="1200" dirty="0"/>
          </a:p>
        </p:txBody>
      </p:sp>
      <p:sp>
        <p:nvSpPr>
          <p:cNvPr id="27" name="Shape 25"/>
          <p:cNvSpPr/>
          <p:nvPr/>
        </p:nvSpPr>
        <p:spPr>
          <a:xfrm>
            <a:off x="365760" y="4005072"/>
            <a:ext cx="8412480" cy="685800"/>
          </a:xfrm>
          <a:prstGeom prst="roundRect">
            <a:avLst>
              <a:gd name="adj" fmla="val 13333"/>
            </a:avLst>
          </a:prstGeom>
          <a:solidFill>
            <a:srgbClr val="F59E0B"/>
          </a:solidFill>
          <a:ln/>
        </p:spPr>
      </p:sp>
      <p:sp>
        <p:nvSpPr>
          <p:cNvPr id="28" name="Text 26"/>
          <p:cNvSpPr/>
          <p:nvPr/>
        </p:nvSpPr>
        <p:spPr>
          <a:xfrm>
            <a:off x="365760" y="4005072"/>
            <a:ext cx="8412480" cy="685800"/>
          </a:xfrm>
          <a:prstGeom prst="rect">
            <a:avLst/>
          </a:prstGeom>
          <a:noFill/>
          <a:ln/>
        </p:spPr>
        <p:txBody>
          <a:bodyPr wrap="square" rtlCol="0" anchor="ctr"/>
          <a:lstStyle/>
          <a:p>
            <a:pPr algn="ctr" indent="0" marL="0">
              <a:buNone/>
            </a:pPr>
            <a:r>
              <a:rPr lang="en-US" sz="1500" b="1" dirty="0">
                <a:solidFill>
                  <a:srgbClr val="1A2856"/>
                </a:solidFill>
                <a:latin typeface="Cambria" pitchFamily="34" charset="0"/>
                <a:ea typeface="Cambria" pitchFamily="34" charset="-122"/>
                <a:cs typeface="Cambria" pitchFamily="34" charset="-120"/>
              </a:rPr>
              <a:t>This is not a delete button for the past. It's insurance for the future.</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2856"/>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59E0B"/>
          </a:solidFill>
          <a:ln/>
        </p:spPr>
      </p:sp>
      <p:sp>
        <p:nvSpPr>
          <p:cNvPr id="3" name="Text 1"/>
          <p:cNvSpPr/>
          <p:nvPr/>
        </p:nvSpPr>
        <p:spPr>
          <a:xfrm>
            <a:off x="457200" y="201168"/>
            <a:ext cx="8229600" cy="320040"/>
          </a:xfrm>
          <a:prstGeom prst="rect">
            <a:avLst/>
          </a:prstGeom>
          <a:noFill/>
          <a:ln/>
        </p:spPr>
        <p:txBody>
          <a:bodyPr wrap="square" rtlCol="0" anchor="ctr"/>
          <a:lstStyle/>
          <a:p>
            <a:pPr indent="0" marL="0">
              <a:buNone/>
            </a:pPr>
            <a:r>
              <a:rPr lang="en-US" sz="1100" b="1" spc="300" kern="0" dirty="0">
                <a:solidFill>
                  <a:srgbClr val="F59E0B"/>
                </a:solidFill>
                <a:latin typeface="Calibri" pitchFamily="34" charset="0"/>
                <a:ea typeface="Calibri" pitchFamily="34" charset="-122"/>
                <a:cs typeface="Calibri" pitchFamily="34" charset="-120"/>
              </a:rPr>
              <a:t>THE SOLUTION</a:t>
            </a:r>
            <a:endParaRPr lang="en-US" sz="1100" dirty="0"/>
          </a:p>
        </p:txBody>
      </p:sp>
      <p:sp>
        <p:nvSpPr>
          <p:cNvPr id="4" name="Text 2"/>
          <p:cNvSpPr/>
          <p:nvPr/>
        </p:nvSpPr>
        <p:spPr>
          <a:xfrm>
            <a:off x="457200" y="475488"/>
            <a:ext cx="8229600" cy="50292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One Screen. Every Platform. Clear Action.</a:t>
            </a:r>
            <a:endParaRPr lang="en-US" sz="2600" dirty="0"/>
          </a:p>
        </p:txBody>
      </p:sp>
      <p:sp>
        <p:nvSpPr>
          <p:cNvPr id="5" name="Shape 3"/>
          <p:cNvSpPr/>
          <p:nvPr/>
        </p:nvSpPr>
        <p:spPr>
          <a:xfrm>
            <a:off x="365760" y="1188720"/>
            <a:ext cx="4160520" cy="1508760"/>
          </a:xfrm>
          <a:prstGeom prst="roundRect">
            <a:avLst>
              <a:gd name="adj" fmla="val 7273"/>
            </a:avLst>
          </a:prstGeom>
          <a:solidFill>
            <a:srgbClr val="FFFFFF">
              <a:alpha val="5000"/>
            </a:srgbClr>
          </a:solidFill>
          <a:ln w="12700">
            <a:solidFill>
              <a:srgbClr val="FFFFFF">
                <a:alpha val="30000"/>
              </a:srgbClr>
            </a:solidFill>
            <a:prstDash val="solid"/>
          </a:ln>
        </p:spPr>
      </p:sp>
      <p:sp>
        <p:nvSpPr>
          <p:cNvPr id="6" name="Shape 4"/>
          <p:cNvSpPr/>
          <p:nvPr/>
        </p:nvSpPr>
        <p:spPr>
          <a:xfrm>
            <a:off x="530352" y="1691640"/>
            <a:ext cx="502920" cy="502920"/>
          </a:xfrm>
          <a:prstGeom prst="ellipse">
            <a:avLst/>
          </a:prstGeom>
          <a:solidFill>
            <a:srgbClr val="1D4ED8"/>
          </a:solidFill>
          <a:ln/>
        </p:spPr>
      </p:sp>
      <p:pic>
        <p:nvPicPr>
          <p:cNvPr id="7" name="Image 0" descr="preencoded.png">    </p:cNvPr>
          <p:cNvPicPr>
            <a:picLocks noChangeAspect="1"/>
          </p:cNvPicPr>
          <p:nvPr/>
        </p:nvPicPr>
        <p:blipFill>
          <a:blip r:embed="rId1"/>
          <a:stretch>
            <a:fillRect/>
          </a:stretch>
        </p:blipFill>
        <p:spPr>
          <a:xfrm>
            <a:off x="612648" y="1773936"/>
            <a:ext cx="338328" cy="338328"/>
          </a:xfrm>
          <a:prstGeom prst="rect">
            <a:avLst/>
          </a:prstGeom>
        </p:spPr>
      </p:pic>
      <p:sp>
        <p:nvSpPr>
          <p:cNvPr id="8" name="Text 5"/>
          <p:cNvSpPr/>
          <p:nvPr/>
        </p:nvSpPr>
        <p:spPr>
          <a:xfrm>
            <a:off x="1170432" y="1353312"/>
            <a:ext cx="3200400" cy="347472"/>
          </a:xfrm>
          <a:prstGeom prst="rect">
            <a:avLst/>
          </a:prstGeom>
          <a:noFill/>
          <a:ln/>
        </p:spPr>
        <p:txBody>
          <a:bodyPr wrap="square"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One Inbox for Everywhere</a:t>
            </a:r>
            <a:endParaRPr lang="en-US" sz="1400" dirty="0"/>
          </a:p>
        </p:txBody>
      </p:sp>
      <p:sp>
        <p:nvSpPr>
          <p:cNvPr id="9" name="Text 6"/>
          <p:cNvSpPr/>
          <p:nvPr/>
        </p:nvSpPr>
        <p:spPr>
          <a:xfrm>
            <a:off x="1170432" y="1737360"/>
            <a:ext cx="3200400" cy="777240"/>
          </a:xfrm>
          <a:prstGeom prst="rect">
            <a:avLst/>
          </a:prstGeom>
          <a:noFill/>
          <a:ln/>
        </p:spPr>
        <p:txBody>
          <a:bodyPr wrap="square" rtlCol="0" anchor="ctr"/>
          <a:lstStyle/>
          <a:p>
            <a:pPr indent="0" marL="0">
              <a:buNone/>
            </a:pPr>
            <a:r>
              <a:rPr lang="en-US" sz="1100" dirty="0">
                <a:solidFill>
                  <a:srgbClr val="DBEAFE"/>
                </a:solidFill>
                <a:latin typeface="Calibri" pitchFamily="34" charset="0"/>
                <a:ea typeface="Calibri" pitchFamily="34" charset="-122"/>
                <a:cs typeface="Calibri" pitchFamily="34" charset="-120"/>
              </a:rPr>
              <a:t>Google, TripAdvisor &amp; Booking.com reviews unified in a single view.</a:t>
            </a:r>
            <a:endParaRPr lang="en-US" sz="1100" dirty="0"/>
          </a:p>
        </p:txBody>
      </p:sp>
      <p:sp>
        <p:nvSpPr>
          <p:cNvPr id="10" name="Shape 7"/>
          <p:cNvSpPr/>
          <p:nvPr/>
        </p:nvSpPr>
        <p:spPr>
          <a:xfrm>
            <a:off x="4800600" y="1188720"/>
            <a:ext cx="4160520" cy="1508760"/>
          </a:xfrm>
          <a:prstGeom prst="roundRect">
            <a:avLst>
              <a:gd name="adj" fmla="val 7273"/>
            </a:avLst>
          </a:prstGeom>
          <a:solidFill>
            <a:srgbClr val="FFFFFF">
              <a:alpha val="5000"/>
            </a:srgbClr>
          </a:solidFill>
          <a:ln w="12700">
            <a:solidFill>
              <a:srgbClr val="FFFFFF">
                <a:alpha val="30000"/>
              </a:srgbClr>
            </a:solidFill>
            <a:prstDash val="solid"/>
          </a:ln>
        </p:spPr>
      </p:sp>
      <p:sp>
        <p:nvSpPr>
          <p:cNvPr id="11" name="Shape 8"/>
          <p:cNvSpPr/>
          <p:nvPr/>
        </p:nvSpPr>
        <p:spPr>
          <a:xfrm>
            <a:off x="4965192" y="1691640"/>
            <a:ext cx="502920" cy="502920"/>
          </a:xfrm>
          <a:prstGeom prst="ellipse">
            <a:avLst/>
          </a:prstGeom>
          <a:solidFill>
            <a:srgbClr val="0D9488"/>
          </a:solidFill>
          <a:ln/>
        </p:spPr>
      </p:sp>
      <p:pic>
        <p:nvPicPr>
          <p:cNvPr id="12" name="Image 1" descr="preencoded.png">    </p:cNvPr>
          <p:cNvPicPr>
            <a:picLocks noChangeAspect="1"/>
          </p:cNvPicPr>
          <p:nvPr/>
        </p:nvPicPr>
        <p:blipFill>
          <a:blip r:embed="rId2"/>
          <a:stretch>
            <a:fillRect/>
          </a:stretch>
        </p:blipFill>
        <p:spPr>
          <a:xfrm>
            <a:off x="5047488" y="1773936"/>
            <a:ext cx="338328" cy="338328"/>
          </a:xfrm>
          <a:prstGeom prst="rect">
            <a:avLst/>
          </a:prstGeom>
        </p:spPr>
      </p:pic>
      <p:sp>
        <p:nvSpPr>
          <p:cNvPr id="13" name="Text 9"/>
          <p:cNvSpPr/>
          <p:nvPr/>
        </p:nvSpPr>
        <p:spPr>
          <a:xfrm>
            <a:off x="5605272" y="1353312"/>
            <a:ext cx="3200400" cy="347472"/>
          </a:xfrm>
          <a:prstGeom prst="rect">
            <a:avLst/>
          </a:prstGeom>
          <a:noFill/>
          <a:ln/>
        </p:spPr>
        <p:txBody>
          <a:bodyPr wrap="square"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AI Issue Detection</a:t>
            </a:r>
            <a:endParaRPr lang="en-US" sz="1400" dirty="0"/>
          </a:p>
        </p:txBody>
      </p:sp>
      <p:sp>
        <p:nvSpPr>
          <p:cNvPr id="14" name="Text 10"/>
          <p:cNvSpPr/>
          <p:nvPr/>
        </p:nvSpPr>
        <p:spPr>
          <a:xfrm>
            <a:off x="5605272" y="1737360"/>
            <a:ext cx="3200400" cy="777240"/>
          </a:xfrm>
          <a:prstGeom prst="rect">
            <a:avLst/>
          </a:prstGeom>
          <a:noFill/>
          <a:ln/>
        </p:spPr>
        <p:txBody>
          <a:bodyPr wrap="square" rtlCol="0" anchor="ctr"/>
          <a:lstStyle/>
          <a:p>
            <a:pPr indent="0" marL="0">
              <a:buNone/>
            </a:pPr>
            <a:r>
              <a:rPr lang="en-US" sz="1100" dirty="0">
                <a:solidFill>
                  <a:srgbClr val="DBEAFE"/>
                </a:solidFill>
                <a:latin typeface="Calibri" pitchFamily="34" charset="0"/>
                <a:ea typeface="Calibri" pitchFamily="34" charset="-122"/>
                <a:cs typeface="Calibri" pitchFamily="34" charset="-120"/>
              </a:rPr>
              <a:t>Complaints distilled into concrete, named operational issues.</a:t>
            </a:r>
            <a:endParaRPr lang="en-US" sz="1100" dirty="0"/>
          </a:p>
        </p:txBody>
      </p:sp>
      <p:sp>
        <p:nvSpPr>
          <p:cNvPr id="15" name="Shape 11"/>
          <p:cNvSpPr/>
          <p:nvPr/>
        </p:nvSpPr>
        <p:spPr>
          <a:xfrm>
            <a:off x="365760" y="2880360"/>
            <a:ext cx="4160520" cy="1508760"/>
          </a:xfrm>
          <a:prstGeom prst="roundRect">
            <a:avLst>
              <a:gd name="adj" fmla="val 7273"/>
            </a:avLst>
          </a:prstGeom>
          <a:solidFill>
            <a:srgbClr val="FFFFFF">
              <a:alpha val="5000"/>
            </a:srgbClr>
          </a:solidFill>
          <a:ln w="12700">
            <a:solidFill>
              <a:srgbClr val="FFFFFF">
                <a:alpha val="30000"/>
              </a:srgbClr>
            </a:solidFill>
            <a:prstDash val="solid"/>
          </a:ln>
        </p:spPr>
      </p:sp>
      <p:sp>
        <p:nvSpPr>
          <p:cNvPr id="16" name="Shape 12"/>
          <p:cNvSpPr/>
          <p:nvPr/>
        </p:nvSpPr>
        <p:spPr>
          <a:xfrm>
            <a:off x="530352" y="3383280"/>
            <a:ext cx="502920" cy="502920"/>
          </a:xfrm>
          <a:prstGeom prst="ellipse">
            <a:avLst/>
          </a:prstGeom>
          <a:solidFill>
            <a:srgbClr val="7C3AED"/>
          </a:solidFill>
          <a:ln/>
        </p:spPr>
      </p:sp>
      <p:pic>
        <p:nvPicPr>
          <p:cNvPr id="17" name="Image 2" descr="preencoded.png">    </p:cNvPr>
          <p:cNvPicPr>
            <a:picLocks noChangeAspect="1"/>
          </p:cNvPicPr>
          <p:nvPr/>
        </p:nvPicPr>
        <p:blipFill>
          <a:blip r:embed="rId3"/>
          <a:stretch>
            <a:fillRect/>
          </a:stretch>
        </p:blipFill>
        <p:spPr>
          <a:xfrm>
            <a:off x="612648" y="3465576"/>
            <a:ext cx="338328" cy="338328"/>
          </a:xfrm>
          <a:prstGeom prst="rect">
            <a:avLst/>
          </a:prstGeom>
        </p:spPr>
      </p:pic>
      <p:sp>
        <p:nvSpPr>
          <p:cNvPr id="18" name="Text 13"/>
          <p:cNvSpPr/>
          <p:nvPr/>
        </p:nvSpPr>
        <p:spPr>
          <a:xfrm>
            <a:off x="1170432" y="3044952"/>
            <a:ext cx="3200400" cy="347472"/>
          </a:xfrm>
          <a:prstGeom prst="rect">
            <a:avLst/>
          </a:prstGeom>
          <a:noFill/>
          <a:ln/>
        </p:spPr>
        <p:txBody>
          <a:bodyPr wrap="square"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Reputation Risk Scoring</a:t>
            </a:r>
            <a:endParaRPr lang="en-US" sz="1400" dirty="0"/>
          </a:p>
        </p:txBody>
      </p:sp>
      <p:sp>
        <p:nvSpPr>
          <p:cNvPr id="19" name="Text 14"/>
          <p:cNvSpPr/>
          <p:nvPr/>
        </p:nvSpPr>
        <p:spPr>
          <a:xfrm>
            <a:off x="1170432" y="3429000"/>
            <a:ext cx="3200400" cy="777240"/>
          </a:xfrm>
          <a:prstGeom prst="rect">
            <a:avLst/>
          </a:prstGeom>
          <a:noFill/>
          <a:ln/>
        </p:spPr>
        <p:txBody>
          <a:bodyPr wrap="square" rtlCol="0" anchor="ctr"/>
          <a:lstStyle/>
          <a:p>
            <a:pPr indent="0" marL="0">
              <a:buNone/>
            </a:pPr>
            <a:r>
              <a:rPr lang="en-US" sz="1100" dirty="0">
                <a:solidFill>
                  <a:srgbClr val="DBEAFE"/>
                </a:solidFill>
                <a:latin typeface="Calibri" pitchFamily="34" charset="0"/>
                <a:ea typeface="Calibri" pitchFamily="34" charset="-122"/>
                <a:cs typeface="Calibri" pitchFamily="34" charset="-120"/>
              </a:rPr>
              <a:t>Every review and issue scored 0–100 for urgency and impact.</a:t>
            </a:r>
            <a:endParaRPr lang="en-US" sz="1100" dirty="0"/>
          </a:p>
        </p:txBody>
      </p:sp>
      <p:sp>
        <p:nvSpPr>
          <p:cNvPr id="20" name="Shape 15"/>
          <p:cNvSpPr/>
          <p:nvPr/>
        </p:nvSpPr>
        <p:spPr>
          <a:xfrm>
            <a:off x="4800600" y="2880360"/>
            <a:ext cx="4160520" cy="1508760"/>
          </a:xfrm>
          <a:prstGeom prst="roundRect">
            <a:avLst>
              <a:gd name="adj" fmla="val 7273"/>
            </a:avLst>
          </a:prstGeom>
          <a:solidFill>
            <a:srgbClr val="FFFFFF">
              <a:alpha val="5000"/>
            </a:srgbClr>
          </a:solidFill>
          <a:ln w="12700">
            <a:solidFill>
              <a:srgbClr val="FFFFFF">
                <a:alpha val="30000"/>
              </a:srgbClr>
            </a:solidFill>
            <a:prstDash val="solid"/>
          </a:ln>
        </p:spPr>
      </p:sp>
      <p:sp>
        <p:nvSpPr>
          <p:cNvPr id="21" name="Shape 16"/>
          <p:cNvSpPr/>
          <p:nvPr/>
        </p:nvSpPr>
        <p:spPr>
          <a:xfrm>
            <a:off x="4965192" y="3383280"/>
            <a:ext cx="502920" cy="502920"/>
          </a:xfrm>
          <a:prstGeom prst="ellipse">
            <a:avLst/>
          </a:prstGeom>
          <a:solidFill>
            <a:srgbClr val="B45309"/>
          </a:solidFill>
          <a:ln/>
        </p:spPr>
      </p:sp>
      <p:pic>
        <p:nvPicPr>
          <p:cNvPr id="22" name="Image 3" descr="preencoded.png">    </p:cNvPr>
          <p:cNvPicPr>
            <a:picLocks noChangeAspect="1"/>
          </p:cNvPicPr>
          <p:nvPr/>
        </p:nvPicPr>
        <p:blipFill>
          <a:blip r:embed="rId4"/>
          <a:stretch>
            <a:fillRect/>
          </a:stretch>
        </p:blipFill>
        <p:spPr>
          <a:xfrm>
            <a:off x="5047488" y="3465576"/>
            <a:ext cx="338328" cy="338328"/>
          </a:xfrm>
          <a:prstGeom prst="rect">
            <a:avLst/>
          </a:prstGeom>
        </p:spPr>
      </p:pic>
      <p:sp>
        <p:nvSpPr>
          <p:cNvPr id="23" name="Text 17"/>
          <p:cNvSpPr/>
          <p:nvPr/>
        </p:nvSpPr>
        <p:spPr>
          <a:xfrm>
            <a:off x="5605272" y="3044952"/>
            <a:ext cx="3200400" cy="347472"/>
          </a:xfrm>
          <a:prstGeom prst="rect">
            <a:avLst/>
          </a:prstGeom>
          <a:noFill/>
          <a:ln/>
        </p:spPr>
        <p:txBody>
          <a:bodyPr wrap="square"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Owned Actions</a:t>
            </a:r>
            <a:endParaRPr lang="en-US" sz="1400" dirty="0"/>
          </a:p>
        </p:txBody>
      </p:sp>
      <p:sp>
        <p:nvSpPr>
          <p:cNvPr id="24" name="Text 18"/>
          <p:cNvSpPr/>
          <p:nvPr/>
        </p:nvSpPr>
        <p:spPr>
          <a:xfrm>
            <a:off x="5605272" y="3429000"/>
            <a:ext cx="3200400" cy="777240"/>
          </a:xfrm>
          <a:prstGeom prst="rect">
            <a:avLst/>
          </a:prstGeom>
          <a:noFill/>
          <a:ln/>
        </p:spPr>
        <p:txBody>
          <a:bodyPr wrap="square" rtlCol="0" anchor="ctr"/>
          <a:lstStyle/>
          <a:p>
            <a:pPr indent="0" marL="0">
              <a:buNone/>
            </a:pPr>
            <a:r>
              <a:rPr lang="en-US" sz="1100" dirty="0">
                <a:solidFill>
                  <a:srgbClr val="DBEAFE"/>
                </a:solidFill>
                <a:latin typeface="Calibri" pitchFamily="34" charset="0"/>
                <a:ea typeface="Calibri" pitchFamily="34" charset="-122"/>
                <a:cs typeface="Calibri" pitchFamily="34" charset="-120"/>
              </a:rPr>
              <a:t>Each issue routed to a department, prioritized, and tracked to resolution.</a:t>
            </a:r>
            <a:endParaRPr lang="en-US" sz="1100" dirty="0"/>
          </a:p>
        </p:txBody>
      </p:sp>
      <p:sp>
        <p:nvSpPr>
          <p:cNvPr id="25" name="Text 19"/>
          <p:cNvSpPr/>
          <p:nvPr/>
        </p:nvSpPr>
        <p:spPr>
          <a:xfrm>
            <a:off x="365760" y="4645152"/>
            <a:ext cx="8412480" cy="365760"/>
          </a:xfrm>
          <a:prstGeom prst="rect">
            <a:avLst/>
          </a:prstGeom>
          <a:noFill/>
          <a:ln/>
        </p:spPr>
        <p:txBody>
          <a:bodyPr wrap="square" rtlCol="0" anchor="ctr"/>
          <a:lstStyle/>
          <a:p>
            <a:pPr algn="ctr" indent="0" marL="0">
              <a:buNone/>
            </a:pPr>
            <a:r>
              <a:rPr lang="en-US" sz="1100" i="1" dirty="0">
                <a:solidFill>
                  <a:srgbClr val="F59E0B"/>
                </a:solidFill>
                <a:latin typeface="Calibri" pitchFamily="34" charset="0"/>
                <a:ea typeface="Calibri" pitchFamily="34" charset="-122"/>
                <a:cs typeface="Calibri" pitchFamily="34" charset="-120"/>
              </a:rPr>
              <a:t>We turn three thousand scattered complaints into one prioritized action list — owned, ranked, and evidenced.</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A2856"/>
          </a:solidFill>
          <a:ln/>
        </p:spPr>
      </p:sp>
      <p:sp>
        <p:nvSpPr>
          <p:cNvPr id="3" name="Text 1"/>
          <p:cNvSpPr/>
          <p:nvPr/>
        </p:nvSpPr>
        <p:spPr>
          <a:xfrm>
            <a:off x="457200" y="201168"/>
            <a:ext cx="8229600" cy="320040"/>
          </a:xfrm>
          <a:prstGeom prst="rect">
            <a:avLst/>
          </a:prstGeom>
          <a:noFill/>
          <a:ln/>
        </p:spPr>
        <p:txBody>
          <a:bodyPr wrap="square" rtlCol="0" anchor="ctr"/>
          <a:lstStyle/>
          <a:p>
            <a:pPr indent="0" marL="0">
              <a:buNone/>
            </a:pPr>
            <a:r>
              <a:rPr lang="en-US" sz="1100" b="1" spc="300" kern="0" dirty="0">
                <a:solidFill>
                  <a:srgbClr val="F59E0B"/>
                </a:solidFill>
                <a:latin typeface="Calibri" pitchFamily="34" charset="0"/>
                <a:ea typeface="Calibri" pitchFamily="34" charset="-122"/>
                <a:cs typeface="Calibri" pitchFamily="34" charset="-120"/>
              </a:rPr>
              <a:t>HOW IT WORKS</a:t>
            </a:r>
            <a:endParaRPr lang="en-US" sz="1100" dirty="0"/>
          </a:p>
        </p:txBody>
      </p:sp>
      <p:sp>
        <p:nvSpPr>
          <p:cNvPr id="4" name="Text 2"/>
          <p:cNvSpPr/>
          <p:nvPr/>
        </p:nvSpPr>
        <p:spPr>
          <a:xfrm>
            <a:off x="457200" y="475488"/>
            <a:ext cx="8229600" cy="502920"/>
          </a:xfrm>
          <a:prstGeom prst="rect">
            <a:avLst/>
          </a:prstGeom>
          <a:noFill/>
          <a:ln/>
        </p:spPr>
        <p:txBody>
          <a:bodyPr wrap="square" rtlCol="0" anchor="ctr"/>
          <a:lstStyle/>
          <a:p>
            <a:pPr indent="0" marL="0">
              <a:buNone/>
            </a:pPr>
            <a:r>
              <a:rPr lang="en-US" sz="2600" b="1" dirty="0">
                <a:solidFill>
                  <a:srgbClr val="1A2856"/>
                </a:solidFill>
                <a:latin typeface="Cambria" pitchFamily="34" charset="0"/>
                <a:ea typeface="Cambria" pitchFamily="34" charset="-122"/>
                <a:cs typeface="Cambria" pitchFamily="34" charset="-120"/>
              </a:rPr>
              <a:t>The Engine — One Pipeline, Four Stages</a:t>
            </a:r>
            <a:endParaRPr lang="en-US" sz="2600" dirty="0"/>
          </a:p>
        </p:txBody>
      </p:sp>
      <p:sp>
        <p:nvSpPr>
          <p:cNvPr id="5" name="Shape 3"/>
          <p:cNvSpPr/>
          <p:nvPr/>
        </p:nvSpPr>
        <p:spPr>
          <a:xfrm>
            <a:off x="274320" y="1261872"/>
            <a:ext cx="1920240" cy="2011680"/>
          </a:xfrm>
          <a:prstGeom prst="roundRect">
            <a:avLst>
              <a:gd name="adj" fmla="val 5714"/>
            </a:avLst>
          </a:prstGeom>
          <a:solidFill>
            <a:srgbClr val="1D4ED8"/>
          </a:solidFill>
          <a:ln/>
          <a:effectLst>
            <a:outerShdw sx="100000" sy="100000" kx="0" ky="0" algn="bl" rotWithShape="0" blurRad="101600" dist="38100" dir="2700000">
              <a:srgbClr val="000000">
                <a:alpha val="13000"/>
              </a:srgbClr>
            </a:outerShdw>
          </a:effectLst>
        </p:spPr>
      </p:sp>
      <p:sp>
        <p:nvSpPr>
          <p:cNvPr id="6" name="Text 4"/>
          <p:cNvSpPr/>
          <p:nvPr/>
        </p:nvSpPr>
        <p:spPr>
          <a:xfrm>
            <a:off x="274320" y="1325880"/>
            <a:ext cx="1920240" cy="548640"/>
          </a:xfrm>
          <a:prstGeom prst="rect">
            <a:avLst/>
          </a:prstGeom>
          <a:noFill/>
          <a:ln/>
        </p:spPr>
        <p:txBody>
          <a:bodyPr wrap="square"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7" name="Text 5"/>
          <p:cNvSpPr/>
          <p:nvPr/>
        </p:nvSpPr>
        <p:spPr>
          <a:xfrm>
            <a:off x="274320" y="1810512"/>
            <a:ext cx="1920240" cy="347472"/>
          </a:xfrm>
          <a:prstGeom prst="rect">
            <a:avLst/>
          </a:prstGeom>
          <a:noFill/>
          <a:ln/>
        </p:spPr>
        <p:txBody>
          <a:bodyPr wrap="square" rtlCol="0" anchor="ctr"/>
          <a:lstStyle/>
          <a:p>
            <a:pPr algn="ctr" indent="0" marL="0">
              <a:buNone/>
            </a:pPr>
            <a:r>
              <a:rPr lang="en-US" sz="1300" b="1" spc="200" kern="0" dirty="0">
                <a:solidFill>
                  <a:srgbClr val="FFFFFF"/>
                </a:solidFill>
                <a:latin typeface="Calibri" pitchFamily="34" charset="0"/>
                <a:ea typeface="Calibri" pitchFamily="34" charset="-122"/>
                <a:cs typeface="Calibri" pitchFamily="34" charset="-120"/>
              </a:rPr>
              <a:t>INGEST</a:t>
            </a:r>
            <a:endParaRPr lang="en-US" sz="1300" dirty="0"/>
          </a:p>
        </p:txBody>
      </p:sp>
      <p:sp>
        <p:nvSpPr>
          <p:cNvPr id="8" name="Text 6"/>
          <p:cNvSpPr/>
          <p:nvPr/>
        </p:nvSpPr>
        <p:spPr>
          <a:xfrm>
            <a:off x="274320" y="2212848"/>
            <a:ext cx="1920240" cy="82296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3 platforms</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Google · TripAdvisor</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Booking.com</a:t>
            </a:r>
            <a:endParaRPr lang="en-US" sz="1000" dirty="0"/>
          </a:p>
        </p:txBody>
      </p:sp>
      <p:sp>
        <p:nvSpPr>
          <p:cNvPr id="9" name="Shape 7"/>
          <p:cNvSpPr/>
          <p:nvPr/>
        </p:nvSpPr>
        <p:spPr>
          <a:xfrm>
            <a:off x="2212848" y="2176272"/>
            <a:ext cx="201168" cy="109728"/>
          </a:xfrm>
          <a:prstGeom prst="rect">
            <a:avLst/>
          </a:prstGeom>
          <a:solidFill>
            <a:srgbClr val="334155"/>
          </a:solidFill>
          <a:ln/>
        </p:spPr>
      </p:sp>
      <p:sp>
        <p:nvSpPr>
          <p:cNvPr id="10" name="Text 8"/>
          <p:cNvSpPr/>
          <p:nvPr/>
        </p:nvSpPr>
        <p:spPr>
          <a:xfrm>
            <a:off x="2240280" y="2084832"/>
            <a:ext cx="182880" cy="274320"/>
          </a:xfrm>
          <a:prstGeom prst="rect">
            <a:avLst/>
          </a:prstGeom>
          <a:noFill/>
          <a:ln/>
        </p:spPr>
        <p:txBody>
          <a:bodyPr wrap="square" lIns="0" tIns="0" rIns="0" bIns="0" rtlCol="0" anchor="ctr"/>
          <a:lstStyle/>
          <a:p>
            <a:pPr algn="ctr" indent="0" marL="0">
              <a:buNone/>
            </a:pPr>
            <a:r>
              <a:rPr lang="en-US" sz="1400" dirty="0">
                <a:solidFill>
                  <a:srgbClr val="334155"/>
                </a:solidFill>
                <a:latin typeface="Calibri" pitchFamily="34" charset="0"/>
                <a:ea typeface="Calibri" pitchFamily="34" charset="-122"/>
                <a:cs typeface="Calibri" pitchFamily="34" charset="-120"/>
              </a:rPr>
              <a:t>▶</a:t>
            </a:r>
            <a:endParaRPr lang="en-US" sz="1400" dirty="0"/>
          </a:p>
        </p:txBody>
      </p:sp>
      <p:sp>
        <p:nvSpPr>
          <p:cNvPr id="11" name="Shape 9"/>
          <p:cNvSpPr/>
          <p:nvPr/>
        </p:nvSpPr>
        <p:spPr>
          <a:xfrm>
            <a:off x="2450592" y="1261872"/>
            <a:ext cx="1920240" cy="2011680"/>
          </a:xfrm>
          <a:prstGeom prst="roundRect">
            <a:avLst>
              <a:gd name="adj" fmla="val 5714"/>
            </a:avLst>
          </a:prstGeom>
          <a:solidFill>
            <a:srgbClr val="0D9488"/>
          </a:solidFill>
          <a:ln/>
          <a:effectLst>
            <a:outerShdw sx="100000" sy="100000" kx="0" ky="0" algn="bl" rotWithShape="0" blurRad="101600" dist="38100" dir="2700000">
              <a:srgbClr val="000000">
                <a:alpha val="13000"/>
              </a:srgbClr>
            </a:outerShdw>
          </a:effectLst>
        </p:spPr>
      </p:sp>
      <p:sp>
        <p:nvSpPr>
          <p:cNvPr id="12" name="Text 10"/>
          <p:cNvSpPr/>
          <p:nvPr/>
        </p:nvSpPr>
        <p:spPr>
          <a:xfrm>
            <a:off x="2450592" y="1325880"/>
            <a:ext cx="1920240" cy="548640"/>
          </a:xfrm>
          <a:prstGeom prst="rect">
            <a:avLst/>
          </a:prstGeom>
          <a:noFill/>
          <a:ln/>
        </p:spPr>
        <p:txBody>
          <a:bodyPr wrap="square"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3" name="Text 11"/>
          <p:cNvSpPr/>
          <p:nvPr/>
        </p:nvSpPr>
        <p:spPr>
          <a:xfrm>
            <a:off x="2450592" y="1810512"/>
            <a:ext cx="1920240" cy="347472"/>
          </a:xfrm>
          <a:prstGeom prst="rect">
            <a:avLst/>
          </a:prstGeom>
          <a:noFill/>
          <a:ln/>
        </p:spPr>
        <p:txBody>
          <a:bodyPr wrap="square" rtlCol="0" anchor="ctr"/>
          <a:lstStyle/>
          <a:p>
            <a:pPr algn="ctr" indent="0" marL="0">
              <a:buNone/>
            </a:pPr>
            <a:r>
              <a:rPr lang="en-US" sz="1300" b="1" spc="200" kern="0" dirty="0">
                <a:solidFill>
                  <a:srgbClr val="FFFFFF"/>
                </a:solidFill>
                <a:latin typeface="Calibri" pitchFamily="34" charset="0"/>
                <a:ea typeface="Calibri" pitchFamily="34" charset="-122"/>
                <a:cs typeface="Calibri" pitchFamily="34" charset="-120"/>
              </a:rPr>
              <a:t>ANALYZE</a:t>
            </a:r>
            <a:endParaRPr lang="en-US" sz="1300" dirty="0"/>
          </a:p>
        </p:txBody>
      </p:sp>
      <p:sp>
        <p:nvSpPr>
          <p:cNvPr id="14" name="Text 12"/>
          <p:cNvSpPr/>
          <p:nvPr/>
        </p:nvSpPr>
        <p:spPr>
          <a:xfrm>
            <a:off x="2450592" y="2212848"/>
            <a:ext cx="1920240" cy="82296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Sentiment · Risk</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Department mapping</a:t>
            </a:r>
            <a:endParaRPr lang="en-US" sz="1000" dirty="0"/>
          </a:p>
        </p:txBody>
      </p:sp>
      <p:sp>
        <p:nvSpPr>
          <p:cNvPr id="15" name="Shape 13"/>
          <p:cNvSpPr/>
          <p:nvPr/>
        </p:nvSpPr>
        <p:spPr>
          <a:xfrm>
            <a:off x="4389120" y="2176272"/>
            <a:ext cx="201168" cy="109728"/>
          </a:xfrm>
          <a:prstGeom prst="rect">
            <a:avLst/>
          </a:prstGeom>
          <a:solidFill>
            <a:srgbClr val="334155"/>
          </a:solidFill>
          <a:ln/>
        </p:spPr>
      </p:sp>
      <p:sp>
        <p:nvSpPr>
          <p:cNvPr id="16" name="Text 14"/>
          <p:cNvSpPr/>
          <p:nvPr/>
        </p:nvSpPr>
        <p:spPr>
          <a:xfrm>
            <a:off x="4416552" y="2084832"/>
            <a:ext cx="182880" cy="274320"/>
          </a:xfrm>
          <a:prstGeom prst="rect">
            <a:avLst/>
          </a:prstGeom>
          <a:noFill/>
          <a:ln/>
        </p:spPr>
        <p:txBody>
          <a:bodyPr wrap="square" lIns="0" tIns="0" rIns="0" bIns="0" rtlCol="0" anchor="ctr"/>
          <a:lstStyle/>
          <a:p>
            <a:pPr algn="ctr" indent="0" marL="0">
              <a:buNone/>
            </a:pPr>
            <a:r>
              <a:rPr lang="en-US" sz="1400" dirty="0">
                <a:solidFill>
                  <a:srgbClr val="334155"/>
                </a:solidFill>
                <a:latin typeface="Calibri" pitchFamily="34" charset="0"/>
                <a:ea typeface="Calibri" pitchFamily="34" charset="-122"/>
                <a:cs typeface="Calibri" pitchFamily="34" charset="-120"/>
              </a:rPr>
              <a:t>▶</a:t>
            </a:r>
            <a:endParaRPr lang="en-US" sz="1400" dirty="0"/>
          </a:p>
        </p:txBody>
      </p:sp>
      <p:sp>
        <p:nvSpPr>
          <p:cNvPr id="17" name="Shape 15"/>
          <p:cNvSpPr/>
          <p:nvPr/>
        </p:nvSpPr>
        <p:spPr>
          <a:xfrm>
            <a:off x="4626864" y="1261872"/>
            <a:ext cx="1920240" cy="2011680"/>
          </a:xfrm>
          <a:prstGeom prst="roundRect">
            <a:avLst>
              <a:gd name="adj" fmla="val 5714"/>
            </a:avLst>
          </a:prstGeom>
          <a:solidFill>
            <a:srgbClr val="7C3AED"/>
          </a:solidFill>
          <a:ln/>
          <a:effectLst>
            <a:outerShdw sx="100000" sy="100000" kx="0" ky="0" algn="bl" rotWithShape="0" blurRad="101600" dist="38100" dir="2700000">
              <a:srgbClr val="000000">
                <a:alpha val="13000"/>
              </a:srgbClr>
            </a:outerShdw>
          </a:effectLst>
        </p:spPr>
      </p:sp>
      <p:sp>
        <p:nvSpPr>
          <p:cNvPr id="18" name="Text 16"/>
          <p:cNvSpPr/>
          <p:nvPr/>
        </p:nvSpPr>
        <p:spPr>
          <a:xfrm>
            <a:off x="4626864" y="1325880"/>
            <a:ext cx="1920240" cy="548640"/>
          </a:xfrm>
          <a:prstGeom prst="rect">
            <a:avLst/>
          </a:prstGeom>
          <a:noFill/>
          <a:ln/>
        </p:spPr>
        <p:txBody>
          <a:bodyPr wrap="square"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3</a:t>
            </a:r>
            <a:endParaRPr lang="en-US" sz="2800" dirty="0"/>
          </a:p>
        </p:txBody>
      </p:sp>
      <p:sp>
        <p:nvSpPr>
          <p:cNvPr id="19" name="Text 17"/>
          <p:cNvSpPr/>
          <p:nvPr/>
        </p:nvSpPr>
        <p:spPr>
          <a:xfrm>
            <a:off x="4626864" y="1810512"/>
            <a:ext cx="1920240" cy="347472"/>
          </a:xfrm>
          <a:prstGeom prst="rect">
            <a:avLst/>
          </a:prstGeom>
          <a:noFill/>
          <a:ln/>
        </p:spPr>
        <p:txBody>
          <a:bodyPr wrap="square" rtlCol="0" anchor="ctr"/>
          <a:lstStyle/>
          <a:p>
            <a:pPr algn="ctr" indent="0" marL="0">
              <a:buNone/>
            </a:pPr>
            <a:r>
              <a:rPr lang="en-US" sz="1300" b="1" spc="200" kern="0" dirty="0">
                <a:solidFill>
                  <a:srgbClr val="FFFFFF"/>
                </a:solidFill>
                <a:latin typeface="Calibri" pitchFamily="34" charset="0"/>
                <a:ea typeface="Calibri" pitchFamily="34" charset="-122"/>
                <a:cs typeface="Calibri" pitchFamily="34" charset="-120"/>
              </a:rPr>
              <a:t>DETECT</a:t>
            </a:r>
            <a:endParaRPr lang="en-US" sz="1300" dirty="0"/>
          </a:p>
        </p:txBody>
      </p:sp>
      <p:sp>
        <p:nvSpPr>
          <p:cNvPr id="20" name="Text 18"/>
          <p:cNvSpPr/>
          <p:nvPr/>
        </p:nvSpPr>
        <p:spPr>
          <a:xfrm>
            <a:off x="4626864" y="2212848"/>
            <a:ext cx="1920240" cy="82296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LLM 3-pass pipeline</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Extract → Merge → Evidence</a:t>
            </a:r>
            <a:endParaRPr lang="en-US" sz="1000" dirty="0"/>
          </a:p>
        </p:txBody>
      </p:sp>
      <p:sp>
        <p:nvSpPr>
          <p:cNvPr id="21" name="Shape 19"/>
          <p:cNvSpPr/>
          <p:nvPr/>
        </p:nvSpPr>
        <p:spPr>
          <a:xfrm>
            <a:off x="6565392" y="2176272"/>
            <a:ext cx="201168" cy="109728"/>
          </a:xfrm>
          <a:prstGeom prst="rect">
            <a:avLst/>
          </a:prstGeom>
          <a:solidFill>
            <a:srgbClr val="334155"/>
          </a:solidFill>
          <a:ln/>
        </p:spPr>
      </p:sp>
      <p:sp>
        <p:nvSpPr>
          <p:cNvPr id="22" name="Text 20"/>
          <p:cNvSpPr/>
          <p:nvPr/>
        </p:nvSpPr>
        <p:spPr>
          <a:xfrm>
            <a:off x="6592824" y="2084832"/>
            <a:ext cx="182880" cy="274320"/>
          </a:xfrm>
          <a:prstGeom prst="rect">
            <a:avLst/>
          </a:prstGeom>
          <a:noFill/>
          <a:ln/>
        </p:spPr>
        <p:txBody>
          <a:bodyPr wrap="square" lIns="0" tIns="0" rIns="0" bIns="0" rtlCol="0" anchor="ctr"/>
          <a:lstStyle/>
          <a:p>
            <a:pPr algn="ctr" indent="0" marL="0">
              <a:buNone/>
            </a:pPr>
            <a:r>
              <a:rPr lang="en-US" sz="1400" dirty="0">
                <a:solidFill>
                  <a:srgbClr val="334155"/>
                </a:solidFill>
                <a:latin typeface="Calibri" pitchFamily="34" charset="0"/>
                <a:ea typeface="Calibri" pitchFamily="34" charset="-122"/>
                <a:cs typeface="Calibri" pitchFamily="34" charset="-120"/>
              </a:rPr>
              <a:t>▶</a:t>
            </a:r>
            <a:endParaRPr lang="en-US" sz="1400" dirty="0"/>
          </a:p>
        </p:txBody>
      </p:sp>
      <p:sp>
        <p:nvSpPr>
          <p:cNvPr id="23" name="Shape 21"/>
          <p:cNvSpPr/>
          <p:nvPr/>
        </p:nvSpPr>
        <p:spPr>
          <a:xfrm>
            <a:off x="6803136" y="1261872"/>
            <a:ext cx="1920240" cy="2011680"/>
          </a:xfrm>
          <a:prstGeom prst="roundRect">
            <a:avLst>
              <a:gd name="adj" fmla="val 5714"/>
            </a:avLst>
          </a:prstGeom>
          <a:solidFill>
            <a:srgbClr val="B45309"/>
          </a:solidFill>
          <a:ln/>
          <a:effectLst>
            <a:outerShdw sx="100000" sy="100000" kx="0" ky="0" algn="bl" rotWithShape="0" blurRad="101600" dist="38100" dir="2700000">
              <a:srgbClr val="000000">
                <a:alpha val="13000"/>
              </a:srgbClr>
            </a:outerShdw>
          </a:effectLst>
        </p:spPr>
      </p:sp>
      <p:sp>
        <p:nvSpPr>
          <p:cNvPr id="24" name="Text 22"/>
          <p:cNvSpPr/>
          <p:nvPr/>
        </p:nvSpPr>
        <p:spPr>
          <a:xfrm>
            <a:off x="6803136" y="1325880"/>
            <a:ext cx="1920240" cy="548640"/>
          </a:xfrm>
          <a:prstGeom prst="rect">
            <a:avLst/>
          </a:prstGeom>
          <a:noFill/>
          <a:ln/>
        </p:spPr>
        <p:txBody>
          <a:bodyPr wrap="square"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4</a:t>
            </a:r>
            <a:endParaRPr lang="en-US" sz="2800" dirty="0"/>
          </a:p>
        </p:txBody>
      </p:sp>
      <p:sp>
        <p:nvSpPr>
          <p:cNvPr id="25" name="Text 23"/>
          <p:cNvSpPr/>
          <p:nvPr/>
        </p:nvSpPr>
        <p:spPr>
          <a:xfrm>
            <a:off x="6803136" y="1810512"/>
            <a:ext cx="1920240" cy="347472"/>
          </a:xfrm>
          <a:prstGeom prst="rect">
            <a:avLst/>
          </a:prstGeom>
          <a:noFill/>
          <a:ln/>
        </p:spPr>
        <p:txBody>
          <a:bodyPr wrap="square" rtlCol="0" anchor="ctr"/>
          <a:lstStyle/>
          <a:p>
            <a:pPr algn="ctr" indent="0" marL="0">
              <a:buNone/>
            </a:pPr>
            <a:r>
              <a:rPr lang="en-US" sz="1300" b="1" spc="200" kern="0" dirty="0">
                <a:solidFill>
                  <a:srgbClr val="FFFFFF"/>
                </a:solidFill>
                <a:latin typeface="Calibri" pitchFamily="34" charset="0"/>
                <a:ea typeface="Calibri" pitchFamily="34" charset="-122"/>
                <a:cs typeface="Calibri" pitchFamily="34" charset="-120"/>
              </a:rPr>
              <a:t>ACT</a:t>
            </a:r>
            <a:endParaRPr lang="en-US" sz="1300" dirty="0"/>
          </a:p>
        </p:txBody>
      </p:sp>
      <p:sp>
        <p:nvSpPr>
          <p:cNvPr id="26" name="Text 24"/>
          <p:cNvSpPr/>
          <p:nvPr/>
        </p:nvSpPr>
        <p:spPr>
          <a:xfrm>
            <a:off x="6803136" y="2212848"/>
            <a:ext cx="1920240" cy="82296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Dept-owned issue</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Prioritized &amp; tracked</a:t>
            </a:r>
            <a:endParaRPr lang="en-US" sz="1000" dirty="0"/>
          </a:p>
        </p:txBody>
      </p:sp>
      <p:sp>
        <p:nvSpPr>
          <p:cNvPr id="27" name="Shape 25"/>
          <p:cNvSpPr/>
          <p:nvPr/>
        </p:nvSpPr>
        <p:spPr>
          <a:xfrm>
            <a:off x="274320" y="3493008"/>
            <a:ext cx="4206240" cy="1234440"/>
          </a:xfrm>
          <a:prstGeom prst="roundRect">
            <a:avLst>
              <a:gd name="adj" fmla="val 7407"/>
            </a:avLst>
          </a:prstGeom>
          <a:solidFill>
            <a:srgbClr val="FFFFFF"/>
          </a:solidFill>
          <a:ln w="12700">
            <a:solidFill>
              <a:srgbClr val="DBEAFE"/>
            </a:solidFill>
            <a:prstDash val="solid"/>
          </a:ln>
          <a:effectLst>
            <a:outerShdw sx="100000" sy="100000" kx="0" ky="0" algn="bl" rotWithShape="0" blurRad="76200" dist="25400" dir="2700000">
              <a:srgbClr val="000000">
                <a:alpha val="10000"/>
              </a:srgbClr>
            </a:outerShdw>
          </a:effectLst>
        </p:spPr>
      </p:sp>
      <p:sp>
        <p:nvSpPr>
          <p:cNvPr id="28" name="Text 26"/>
          <p:cNvSpPr/>
          <p:nvPr/>
        </p:nvSpPr>
        <p:spPr>
          <a:xfrm>
            <a:off x="411480" y="3566160"/>
            <a:ext cx="3931920" cy="274320"/>
          </a:xfrm>
          <a:prstGeom prst="rect">
            <a:avLst/>
          </a:prstGeom>
          <a:noFill/>
          <a:ln/>
        </p:spPr>
        <p:txBody>
          <a:bodyPr wrap="square" rtlCol="0" anchor="ctr"/>
          <a:lstStyle/>
          <a:p>
            <a:pPr indent="0" marL="0">
              <a:buNone/>
            </a:pPr>
            <a:r>
              <a:rPr lang="en-US" sz="1200" b="1" dirty="0">
                <a:solidFill>
                  <a:srgbClr val="1A2856"/>
                </a:solidFill>
                <a:latin typeface="Calibri" pitchFamily="34" charset="0"/>
                <a:ea typeface="Calibri" pitchFamily="34" charset="-122"/>
                <a:cs typeface="Calibri" pitchFamily="34" charset="-120"/>
              </a:rPr>
              <a:t>Specificity Preserved</a:t>
            </a:r>
            <a:endParaRPr lang="en-US" sz="1200" dirty="0"/>
          </a:p>
        </p:txBody>
      </p:sp>
      <p:sp>
        <p:nvSpPr>
          <p:cNvPr id="29" name="Text 27"/>
          <p:cNvSpPr/>
          <p:nvPr/>
        </p:nvSpPr>
        <p:spPr>
          <a:xfrm>
            <a:off x="411480" y="3858768"/>
            <a:ext cx="3931920" cy="73152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Keeps the guest's exact facts — room number, amount charged, time of incident. Not a category: a work order.</a:t>
            </a:r>
            <a:endParaRPr lang="en-US" sz="1100" dirty="0"/>
          </a:p>
        </p:txBody>
      </p:sp>
      <p:sp>
        <p:nvSpPr>
          <p:cNvPr id="30" name="Shape 28"/>
          <p:cNvSpPr/>
          <p:nvPr/>
        </p:nvSpPr>
        <p:spPr>
          <a:xfrm>
            <a:off x="4663440" y="3493008"/>
            <a:ext cx="4206240" cy="1234440"/>
          </a:xfrm>
          <a:prstGeom prst="roundRect">
            <a:avLst>
              <a:gd name="adj" fmla="val 7407"/>
            </a:avLst>
          </a:prstGeom>
          <a:solidFill>
            <a:srgbClr val="FFFFFF"/>
          </a:solidFill>
          <a:ln w="12700">
            <a:solidFill>
              <a:srgbClr val="DBEAFE"/>
            </a:solidFill>
            <a:prstDash val="solid"/>
          </a:ln>
          <a:effectLst>
            <a:outerShdw sx="100000" sy="100000" kx="0" ky="0" algn="bl" rotWithShape="0" blurRad="76200" dist="25400" dir="2700000">
              <a:srgbClr val="000000">
                <a:alpha val="10000"/>
              </a:srgbClr>
            </a:outerShdw>
          </a:effectLst>
        </p:spPr>
      </p:sp>
      <p:sp>
        <p:nvSpPr>
          <p:cNvPr id="31" name="Text 29"/>
          <p:cNvSpPr/>
          <p:nvPr/>
        </p:nvSpPr>
        <p:spPr>
          <a:xfrm>
            <a:off x="4800600" y="3566160"/>
            <a:ext cx="3931920" cy="274320"/>
          </a:xfrm>
          <a:prstGeom prst="rect">
            <a:avLst/>
          </a:prstGeom>
          <a:noFill/>
          <a:ln/>
        </p:spPr>
        <p:txBody>
          <a:bodyPr wrap="square" rtlCol="0" anchor="ctr"/>
          <a:lstStyle/>
          <a:p>
            <a:pPr indent="0" marL="0">
              <a:buNone/>
            </a:pPr>
            <a:r>
              <a:rPr lang="en-US" sz="1200" b="1" dirty="0">
                <a:solidFill>
                  <a:srgbClr val="1A2856"/>
                </a:solidFill>
                <a:latin typeface="Calibri" pitchFamily="34" charset="0"/>
                <a:ea typeface="Calibri" pitchFamily="34" charset="-122"/>
                <a:cs typeface="Calibri" pitchFamily="34" charset="-120"/>
              </a:rPr>
              <a:t>Powered by Gemini 2.5 Flash</a:t>
            </a:r>
            <a:endParaRPr lang="en-US" sz="1200" dirty="0"/>
          </a:p>
        </p:txBody>
      </p:sp>
      <p:sp>
        <p:nvSpPr>
          <p:cNvPr id="32" name="Text 30"/>
          <p:cNvSpPr/>
          <p:nvPr/>
        </p:nvSpPr>
        <p:spPr>
          <a:xfrm>
            <a:off x="4800600" y="3858768"/>
            <a:ext cx="3931920" cy="73152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A full detection run over thousands of reviews costs ≈ $0.25. Hotel-grade intelligence at near-zero marginal cost.</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2856"/>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59E0B"/>
          </a:solidFill>
          <a:ln/>
        </p:spPr>
      </p:sp>
      <p:sp>
        <p:nvSpPr>
          <p:cNvPr id="3" name="Text 1"/>
          <p:cNvSpPr/>
          <p:nvPr/>
        </p:nvSpPr>
        <p:spPr>
          <a:xfrm>
            <a:off x="457200" y="201168"/>
            <a:ext cx="8229600" cy="320040"/>
          </a:xfrm>
          <a:prstGeom prst="rect">
            <a:avLst/>
          </a:prstGeom>
          <a:noFill/>
          <a:ln/>
        </p:spPr>
        <p:txBody>
          <a:bodyPr wrap="square" rtlCol="0" anchor="ctr"/>
          <a:lstStyle/>
          <a:p>
            <a:pPr indent="0" marL="0">
              <a:buNone/>
            </a:pPr>
            <a:r>
              <a:rPr lang="en-US" sz="1100" b="1" spc="300" kern="0" dirty="0">
                <a:solidFill>
                  <a:srgbClr val="F59E0B"/>
                </a:solidFill>
                <a:latin typeface="Calibri" pitchFamily="34" charset="0"/>
                <a:ea typeface="Calibri" pitchFamily="34" charset="-122"/>
                <a:cs typeface="Calibri" pitchFamily="34" charset="-120"/>
              </a:rPr>
              <a:t>WHAT WE FOUND</a:t>
            </a:r>
            <a:endParaRPr lang="en-US" sz="1100" dirty="0"/>
          </a:p>
        </p:txBody>
      </p:sp>
      <p:sp>
        <p:nvSpPr>
          <p:cNvPr id="4" name="Text 2"/>
          <p:cNvSpPr/>
          <p:nvPr/>
        </p:nvSpPr>
        <p:spPr>
          <a:xfrm>
            <a:off x="457200" y="475488"/>
            <a:ext cx="8229600" cy="50292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The Scale of the Analysis</a:t>
            </a:r>
            <a:endParaRPr lang="en-US" sz="2600" dirty="0"/>
          </a:p>
        </p:txBody>
      </p:sp>
      <p:sp>
        <p:nvSpPr>
          <p:cNvPr id="5" name="Shape 3"/>
          <p:cNvSpPr/>
          <p:nvPr/>
        </p:nvSpPr>
        <p:spPr>
          <a:xfrm>
            <a:off x="320040" y="1188720"/>
            <a:ext cx="2697480" cy="1508760"/>
          </a:xfrm>
          <a:prstGeom prst="roundRect">
            <a:avLst>
              <a:gd name="adj" fmla="val 7273"/>
            </a:avLst>
          </a:prstGeom>
          <a:solidFill>
            <a:srgbClr val="FFFFFF">
              <a:alpha val="7000"/>
            </a:srgbClr>
          </a:solidFill>
          <a:ln w="12700">
            <a:solidFill>
              <a:srgbClr val="1D4ED8">
                <a:alpha val="70000"/>
              </a:srgbClr>
            </a:solidFill>
            <a:prstDash val="solid"/>
          </a:ln>
          <a:effectLst>
            <a:outerShdw sx="100000" sy="100000" kx="0" ky="0" algn="bl" rotWithShape="0" blurRad="76200" dist="25400" dir="2700000">
              <a:srgbClr val="000000">
                <a:alpha val="10000"/>
              </a:srgbClr>
            </a:outerShdw>
          </a:effectLst>
        </p:spPr>
      </p:sp>
      <p:sp>
        <p:nvSpPr>
          <p:cNvPr id="6" name="Text 4"/>
          <p:cNvSpPr/>
          <p:nvPr/>
        </p:nvSpPr>
        <p:spPr>
          <a:xfrm>
            <a:off x="320040" y="1353312"/>
            <a:ext cx="2697480" cy="640080"/>
          </a:xfrm>
          <a:prstGeom prst="rect">
            <a:avLst/>
          </a:prstGeom>
          <a:noFill/>
          <a:ln/>
        </p:spPr>
        <p:txBody>
          <a:bodyPr wrap="square" rtlCol="0" anchor="ctr"/>
          <a:lstStyle/>
          <a:p>
            <a:pPr algn="ctr" indent="0" marL="0">
              <a:buNone/>
            </a:pPr>
            <a:r>
              <a:rPr lang="en-US" sz="3200" b="1" dirty="0">
                <a:solidFill>
                  <a:srgbClr val="1D4ED8"/>
                </a:solidFill>
                <a:latin typeface="Cambria" pitchFamily="34" charset="0"/>
                <a:ea typeface="Cambria" pitchFamily="34" charset="-122"/>
                <a:cs typeface="Cambria" pitchFamily="34" charset="-120"/>
              </a:rPr>
              <a:t>2,939</a:t>
            </a:r>
            <a:endParaRPr lang="en-US" sz="3200" dirty="0"/>
          </a:p>
        </p:txBody>
      </p:sp>
      <p:sp>
        <p:nvSpPr>
          <p:cNvPr id="7" name="Text 5"/>
          <p:cNvSpPr/>
          <p:nvPr/>
        </p:nvSpPr>
        <p:spPr>
          <a:xfrm>
            <a:off x="320040" y="1965960"/>
            <a:ext cx="269748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Reviews Analyzed</a:t>
            </a:r>
            <a:endParaRPr lang="en-US" sz="1200" dirty="0"/>
          </a:p>
        </p:txBody>
      </p:sp>
      <p:sp>
        <p:nvSpPr>
          <p:cNvPr id="8" name="Text 6"/>
          <p:cNvSpPr/>
          <p:nvPr/>
        </p:nvSpPr>
        <p:spPr>
          <a:xfrm>
            <a:off x="320040" y="2240280"/>
            <a:ext cx="2697480" cy="320040"/>
          </a:xfrm>
          <a:prstGeom prst="rect">
            <a:avLst/>
          </a:prstGeom>
          <a:noFill/>
          <a:ln/>
        </p:spPr>
        <p:txBody>
          <a:bodyPr wrap="square" rtlCol="0" anchor="ctr"/>
          <a:lstStyle/>
          <a:p>
            <a:pPr algn="ctr" indent="0" marL="0">
              <a:buNone/>
            </a:pPr>
            <a:r>
              <a:rPr lang="en-US" sz="900" dirty="0">
                <a:solidFill>
                  <a:srgbClr val="DBEAFE"/>
                </a:solidFill>
                <a:latin typeface="Calibri" pitchFamily="34" charset="0"/>
                <a:ea typeface="Calibri" pitchFamily="34" charset="-122"/>
                <a:cs typeface="Calibri" pitchFamily="34" charset="-120"/>
              </a:rPr>
              <a:t>3 platforms · 12 months</a:t>
            </a:r>
            <a:endParaRPr lang="en-US" sz="900" dirty="0"/>
          </a:p>
        </p:txBody>
      </p:sp>
      <p:sp>
        <p:nvSpPr>
          <p:cNvPr id="9" name="Shape 7"/>
          <p:cNvSpPr/>
          <p:nvPr/>
        </p:nvSpPr>
        <p:spPr>
          <a:xfrm>
            <a:off x="3200400" y="1188720"/>
            <a:ext cx="2697480" cy="1508760"/>
          </a:xfrm>
          <a:prstGeom prst="roundRect">
            <a:avLst>
              <a:gd name="adj" fmla="val 7273"/>
            </a:avLst>
          </a:prstGeom>
          <a:solidFill>
            <a:srgbClr val="FFFFFF">
              <a:alpha val="7000"/>
            </a:srgbClr>
          </a:solidFill>
          <a:ln w="12700">
            <a:solidFill>
              <a:srgbClr val="0D9488">
                <a:alpha val="70000"/>
              </a:srgbClr>
            </a:solidFill>
            <a:prstDash val="solid"/>
          </a:ln>
          <a:effectLst>
            <a:outerShdw sx="100000" sy="100000" kx="0" ky="0" algn="bl" rotWithShape="0" blurRad="76200" dist="25400" dir="2700000">
              <a:srgbClr val="000000">
                <a:alpha val="10000"/>
              </a:srgbClr>
            </a:outerShdw>
          </a:effectLst>
        </p:spPr>
      </p:sp>
      <p:sp>
        <p:nvSpPr>
          <p:cNvPr id="10" name="Text 8"/>
          <p:cNvSpPr/>
          <p:nvPr/>
        </p:nvSpPr>
        <p:spPr>
          <a:xfrm>
            <a:off x="3200400" y="1353312"/>
            <a:ext cx="2697480" cy="640080"/>
          </a:xfrm>
          <a:prstGeom prst="rect">
            <a:avLst/>
          </a:prstGeom>
          <a:noFill/>
          <a:ln/>
        </p:spPr>
        <p:txBody>
          <a:bodyPr wrap="square" rtlCol="0" anchor="ctr"/>
          <a:lstStyle/>
          <a:p>
            <a:pPr algn="ctr" indent="0" marL="0">
              <a:buNone/>
            </a:pPr>
            <a:r>
              <a:rPr lang="en-US" sz="3200" b="1" dirty="0">
                <a:solidFill>
                  <a:srgbClr val="0D9488"/>
                </a:solidFill>
                <a:latin typeface="Cambria" pitchFamily="34" charset="0"/>
                <a:ea typeface="Cambria" pitchFamily="34" charset="-122"/>
                <a:cs typeface="Cambria" pitchFamily="34" charset="-120"/>
              </a:rPr>
              <a:t>117</a:t>
            </a:r>
            <a:endParaRPr lang="en-US" sz="3200" dirty="0"/>
          </a:p>
        </p:txBody>
      </p:sp>
      <p:sp>
        <p:nvSpPr>
          <p:cNvPr id="11" name="Text 9"/>
          <p:cNvSpPr/>
          <p:nvPr/>
        </p:nvSpPr>
        <p:spPr>
          <a:xfrm>
            <a:off x="3200400" y="1965960"/>
            <a:ext cx="269748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Active Issues</a:t>
            </a:r>
            <a:endParaRPr lang="en-US" sz="1200" dirty="0"/>
          </a:p>
        </p:txBody>
      </p:sp>
      <p:sp>
        <p:nvSpPr>
          <p:cNvPr id="12" name="Text 10"/>
          <p:cNvSpPr/>
          <p:nvPr/>
        </p:nvSpPr>
        <p:spPr>
          <a:xfrm>
            <a:off x="3200400" y="2240280"/>
            <a:ext cx="2697480" cy="320040"/>
          </a:xfrm>
          <a:prstGeom prst="rect">
            <a:avLst/>
          </a:prstGeom>
          <a:noFill/>
          <a:ln/>
        </p:spPr>
        <p:txBody>
          <a:bodyPr wrap="square" rtlCol="0" anchor="ctr"/>
          <a:lstStyle/>
          <a:p>
            <a:pPr algn="ctr" indent="0" marL="0">
              <a:buNone/>
            </a:pPr>
            <a:r>
              <a:rPr lang="en-US" sz="900" dirty="0">
                <a:solidFill>
                  <a:srgbClr val="DBEAFE"/>
                </a:solidFill>
                <a:latin typeface="Calibri" pitchFamily="34" charset="0"/>
                <a:ea typeface="Calibri" pitchFamily="34" charset="-122"/>
                <a:cs typeface="Calibri" pitchFamily="34" charset="-120"/>
              </a:rPr>
              <a:t>From 2,294 neg/mixed</a:t>
            </a:r>
            <a:endParaRPr lang="en-US" sz="900" dirty="0"/>
          </a:p>
        </p:txBody>
      </p:sp>
      <p:sp>
        <p:nvSpPr>
          <p:cNvPr id="13" name="Shape 11"/>
          <p:cNvSpPr/>
          <p:nvPr/>
        </p:nvSpPr>
        <p:spPr>
          <a:xfrm>
            <a:off x="6080760" y="1188720"/>
            <a:ext cx="2697480" cy="1508760"/>
          </a:xfrm>
          <a:prstGeom prst="roundRect">
            <a:avLst>
              <a:gd name="adj" fmla="val 7273"/>
            </a:avLst>
          </a:prstGeom>
          <a:solidFill>
            <a:srgbClr val="FFFFFF">
              <a:alpha val="7000"/>
            </a:srgbClr>
          </a:solidFill>
          <a:ln w="12700">
            <a:solidFill>
              <a:srgbClr val="7C3AED">
                <a:alpha val="70000"/>
              </a:srgbClr>
            </a:solidFill>
            <a:prstDash val="solid"/>
          </a:ln>
          <a:effectLst>
            <a:outerShdw sx="100000" sy="100000" kx="0" ky="0" algn="bl" rotWithShape="0" blurRad="76200" dist="25400" dir="2700000">
              <a:srgbClr val="000000">
                <a:alpha val="10000"/>
              </a:srgbClr>
            </a:outerShdw>
          </a:effectLst>
        </p:spPr>
      </p:sp>
      <p:sp>
        <p:nvSpPr>
          <p:cNvPr id="14" name="Text 12"/>
          <p:cNvSpPr/>
          <p:nvPr/>
        </p:nvSpPr>
        <p:spPr>
          <a:xfrm>
            <a:off x="6080760" y="1353312"/>
            <a:ext cx="2697480" cy="640080"/>
          </a:xfrm>
          <a:prstGeom prst="rect">
            <a:avLst/>
          </a:prstGeom>
          <a:noFill/>
          <a:ln/>
        </p:spPr>
        <p:txBody>
          <a:bodyPr wrap="square" rtlCol="0" anchor="ctr"/>
          <a:lstStyle/>
          <a:p>
            <a:pPr algn="ctr" indent="0" marL="0">
              <a:buNone/>
            </a:pPr>
            <a:r>
              <a:rPr lang="en-US" sz="3200" b="1" dirty="0">
                <a:solidFill>
                  <a:srgbClr val="7C3AED"/>
                </a:solidFill>
                <a:latin typeface="Cambria" pitchFamily="34" charset="0"/>
                <a:ea typeface="Cambria" pitchFamily="34" charset="-122"/>
                <a:cs typeface="Cambria" pitchFamily="34" charset="-120"/>
              </a:rPr>
              <a:t>20 : 1</a:t>
            </a:r>
            <a:endParaRPr lang="en-US" sz="3200" dirty="0"/>
          </a:p>
        </p:txBody>
      </p:sp>
      <p:sp>
        <p:nvSpPr>
          <p:cNvPr id="15" name="Text 13"/>
          <p:cNvSpPr/>
          <p:nvPr/>
        </p:nvSpPr>
        <p:spPr>
          <a:xfrm>
            <a:off x="6080760" y="1965960"/>
            <a:ext cx="269748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Compression Ratio</a:t>
            </a:r>
            <a:endParaRPr lang="en-US" sz="1200" dirty="0"/>
          </a:p>
        </p:txBody>
      </p:sp>
      <p:sp>
        <p:nvSpPr>
          <p:cNvPr id="16" name="Text 14"/>
          <p:cNvSpPr/>
          <p:nvPr/>
        </p:nvSpPr>
        <p:spPr>
          <a:xfrm>
            <a:off x="6080760" y="2240280"/>
            <a:ext cx="2697480" cy="320040"/>
          </a:xfrm>
          <a:prstGeom prst="rect">
            <a:avLst/>
          </a:prstGeom>
          <a:noFill/>
          <a:ln/>
        </p:spPr>
        <p:txBody>
          <a:bodyPr wrap="square" rtlCol="0" anchor="ctr"/>
          <a:lstStyle/>
          <a:p>
            <a:pPr algn="ctr" indent="0" marL="0">
              <a:buNone/>
            </a:pPr>
            <a:r>
              <a:rPr lang="en-US" sz="900" dirty="0">
                <a:solidFill>
                  <a:srgbClr val="DBEAFE"/>
                </a:solidFill>
                <a:latin typeface="Calibri" pitchFamily="34" charset="0"/>
                <a:ea typeface="Calibri" pitchFamily="34" charset="-122"/>
                <a:cs typeface="Calibri" pitchFamily="34" charset="-120"/>
              </a:rPr>
              <a:t>Complaints → Action items</a:t>
            </a:r>
            <a:endParaRPr lang="en-US" sz="900" dirty="0"/>
          </a:p>
        </p:txBody>
      </p:sp>
      <p:sp>
        <p:nvSpPr>
          <p:cNvPr id="17" name="Shape 15"/>
          <p:cNvSpPr/>
          <p:nvPr/>
        </p:nvSpPr>
        <p:spPr>
          <a:xfrm>
            <a:off x="320040" y="2907792"/>
            <a:ext cx="2697480" cy="1508760"/>
          </a:xfrm>
          <a:prstGeom prst="roundRect">
            <a:avLst>
              <a:gd name="adj" fmla="val 7273"/>
            </a:avLst>
          </a:prstGeom>
          <a:solidFill>
            <a:srgbClr val="FFFFFF">
              <a:alpha val="7000"/>
            </a:srgbClr>
          </a:solidFill>
          <a:ln w="12700">
            <a:solidFill>
              <a:srgbClr val="F59E0B">
                <a:alpha val="70000"/>
              </a:srgbClr>
            </a:solidFill>
            <a:prstDash val="solid"/>
          </a:ln>
          <a:effectLst>
            <a:outerShdw sx="100000" sy="100000" kx="0" ky="0" algn="bl" rotWithShape="0" blurRad="76200" dist="25400" dir="2700000">
              <a:srgbClr val="000000">
                <a:alpha val="10000"/>
              </a:srgbClr>
            </a:outerShdw>
          </a:effectLst>
        </p:spPr>
      </p:sp>
      <p:sp>
        <p:nvSpPr>
          <p:cNvPr id="18" name="Text 16"/>
          <p:cNvSpPr/>
          <p:nvPr/>
        </p:nvSpPr>
        <p:spPr>
          <a:xfrm>
            <a:off x="320040" y="3072384"/>
            <a:ext cx="2697480" cy="640080"/>
          </a:xfrm>
          <a:prstGeom prst="rect">
            <a:avLst/>
          </a:prstGeom>
          <a:noFill/>
          <a:ln/>
        </p:spPr>
        <p:txBody>
          <a:bodyPr wrap="square" rtlCol="0" anchor="ctr"/>
          <a:lstStyle/>
          <a:p>
            <a:pPr algn="ctr" indent="0" marL="0">
              <a:buNone/>
            </a:pPr>
            <a:r>
              <a:rPr lang="en-US" sz="3200" b="1" dirty="0">
                <a:solidFill>
                  <a:srgbClr val="F59E0B"/>
                </a:solidFill>
                <a:latin typeface="Cambria" pitchFamily="34" charset="0"/>
                <a:ea typeface="Cambria" pitchFamily="34" charset="-122"/>
                <a:cs typeface="Cambria" pitchFamily="34" charset="-120"/>
              </a:rPr>
              <a:t>587</a:t>
            </a:r>
            <a:endParaRPr lang="en-US" sz="3200" dirty="0"/>
          </a:p>
        </p:txBody>
      </p:sp>
      <p:sp>
        <p:nvSpPr>
          <p:cNvPr id="19" name="Text 17"/>
          <p:cNvSpPr/>
          <p:nvPr/>
        </p:nvSpPr>
        <p:spPr>
          <a:xfrm>
            <a:off x="320040" y="3685032"/>
            <a:ext cx="269748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Early Warnings</a:t>
            </a:r>
            <a:endParaRPr lang="en-US" sz="1200" dirty="0"/>
          </a:p>
        </p:txBody>
      </p:sp>
      <p:sp>
        <p:nvSpPr>
          <p:cNvPr id="20" name="Text 18"/>
          <p:cNvSpPr/>
          <p:nvPr/>
        </p:nvSpPr>
        <p:spPr>
          <a:xfrm>
            <a:off x="320040" y="3959352"/>
            <a:ext cx="2697480" cy="320040"/>
          </a:xfrm>
          <a:prstGeom prst="rect">
            <a:avLst/>
          </a:prstGeom>
          <a:noFill/>
          <a:ln/>
        </p:spPr>
        <p:txBody>
          <a:bodyPr wrap="square" rtlCol="0" anchor="ctr"/>
          <a:lstStyle/>
          <a:p>
            <a:pPr algn="ctr" indent="0" marL="0">
              <a:buNone/>
            </a:pPr>
            <a:r>
              <a:rPr lang="en-US" sz="900" dirty="0">
                <a:solidFill>
                  <a:srgbClr val="DBEAFE"/>
                </a:solidFill>
                <a:latin typeface="Calibri" pitchFamily="34" charset="0"/>
                <a:ea typeface="Calibri" pitchFamily="34" charset="-122"/>
                <a:cs typeface="Calibri" pitchFamily="34" charset="-120"/>
              </a:rPr>
              <a:t>Caught from just 1 review</a:t>
            </a:r>
            <a:endParaRPr lang="en-US" sz="900" dirty="0"/>
          </a:p>
        </p:txBody>
      </p:sp>
      <p:sp>
        <p:nvSpPr>
          <p:cNvPr id="21" name="Shape 19"/>
          <p:cNvSpPr/>
          <p:nvPr/>
        </p:nvSpPr>
        <p:spPr>
          <a:xfrm>
            <a:off x="3200400" y="2907792"/>
            <a:ext cx="2697480" cy="1508760"/>
          </a:xfrm>
          <a:prstGeom prst="roundRect">
            <a:avLst>
              <a:gd name="adj" fmla="val 7273"/>
            </a:avLst>
          </a:prstGeom>
          <a:solidFill>
            <a:srgbClr val="FFFFFF">
              <a:alpha val="7000"/>
            </a:srgbClr>
          </a:solidFill>
          <a:ln w="12700">
            <a:solidFill>
              <a:srgbClr val="059669">
                <a:alpha val="70000"/>
              </a:srgbClr>
            </a:solidFill>
            <a:prstDash val="solid"/>
          </a:ln>
          <a:effectLst>
            <a:outerShdw sx="100000" sy="100000" kx="0" ky="0" algn="bl" rotWithShape="0" blurRad="76200" dist="25400" dir="2700000">
              <a:srgbClr val="000000">
                <a:alpha val="10000"/>
              </a:srgbClr>
            </a:outerShdw>
          </a:effectLst>
        </p:spPr>
      </p:sp>
      <p:sp>
        <p:nvSpPr>
          <p:cNvPr id="22" name="Text 20"/>
          <p:cNvSpPr/>
          <p:nvPr/>
        </p:nvSpPr>
        <p:spPr>
          <a:xfrm>
            <a:off x="3200400" y="3072384"/>
            <a:ext cx="2697480" cy="640080"/>
          </a:xfrm>
          <a:prstGeom prst="rect">
            <a:avLst/>
          </a:prstGeom>
          <a:noFill/>
          <a:ln/>
        </p:spPr>
        <p:txBody>
          <a:bodyPr wrap="square" rtlCol="0" anchor="ctr"/>
          <a:lstStyle/>
          <a:p>
            <a:pPr algn="ctr" indent="0" marL="0">
              <a:buNone/>
            </a:pPr>
            <a:r>
              <a:rPr lang="en-US" sz="3200" b="1" dirty="0">
                <a:solidFill>
                  <a:srgbClr val="059669"/>
                </a:solidFill>
                <a:latin typeface="Cambria" pitchFamily="34" charset="0"/>
                <a:ea typeface="Cambria" pitchFamily="34" charset="-122"/>
                <a:cs typeface="Cambria" pitchFamily="34" charset="-120"/>
              </a:rPr>
              <a:t>77%</a:t>
            </a:r>
            <a:endParaRPr lang="en-US" sz="3200" dirty="0"/>
          </a:p>
        </p:txBody>
      </p:sp>
      <p:sp>
        <p:nvSpPr>
          <p:cNvPr id="23" name="Text 21"/>
          <p:cNvSpPr/>
          <p:nvPr/>
        </p:nvSpPr>
        <p:spPr>
          <a:xfrm>
            <a:off x="3200400" y="3685032"/>
            <a:ext cx="269748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Complaints Linked</a:t>
            </a:r>
            <a:endParaRPr lang="en-US" sz="1200" dirty="0"/>
          </a:p>
        </p:txBody>
      </p:sp>
      <p:sp>
        <p:nvSpPr>
          <p:cNvPr id="24" name="Text 22"/>
          <p:cNvSpPr/>
          <p:nvPr/>
        </p:nvSpPr>
        <p:spPr>
          <a:xfrm>
            <a:off x="3200400" y="3959352"/>
            <a:ext cx="2697480" cy="320040"/>
          </a:xfrm>
          <a:prstGeom prst="rect">
            <a:avLst/>
          </a:prstGeom>
          <a:noFill/>
          <a:ln/>
        </p:spPr>
        <p:txBody>
          <a:bodyPr wrap="square" rtlCol="0" anchor="ctr"/>
          <a:lstStyle/>
          <a:p>
            <a:pPr algn="ctr" indent="0" marL="0">
              <a:buNone/>
            </a:pPr>
            <a:r>
              <a:rPr lang="en-US" sz="900" dirty="0">
                <a:solidFill>
                  <a:srgbClr val="DBEAFE"/>
                </a:solidFill>
                <a:latin typeface="Calibri" pitchFamily="34" charset="0"/>
                <a:ea typeface="Calibri" pitchFamily="34" charset="-122"/>
                <a:cs typeface="Calibri" pitchFamily="34" charset="-120"/>
              </a:rPr>
              <a:t>To specific fixable issue</a:t>
            </a:r>
            <a:endParaRPr lang="en-US" sz="900" dirty="0"/>
          </a:p>
        </p:txBody>
      </p:sp>
      <p:sp>
        <p:nvSpPr>
          <p:cNvPr id="25" name="Shape 23"/>
          <p:cNvSpPr/>
          <p:nvPr/>
        </p:nvSpPr>
        <p:spPr>
          <a:xfrm>
            <a:off x="6080760" y="2907792"/>
            <a:ext cx="2697480" cy="1508760"/>
          </a:xfrm>
          <a:prstGeom prst="roundRect">
            <a:avLst>
              <a:gd name="adj" fmla="val 7273"/>
            </a:avLst>
          </a:prstGeom>
          <a:solidFill>
            <a:srgbClr val="FFFFFF">
              <a:alpha val="7000"/>
            </a:srgbClr>
          </a:solidFill>
          <a:ln w="12700">
            <a:solidFill>
              <a:srgbClr val="DC2626">
                <a:alpha val="70000"/>
              </a:srgbClr>
            </a:solidFill>
            <a:prstDash val="solid"/>
          </a:ln>
          <a:effectLst>
            <a:outerShdw sx="100000" sy="100000" kx="0" ky="0" algn="bl" rotWithShape="0" blurRad="76200" dist="25400" dir="2700000">
              <a:srgbClr val="000000">
                <a:alpha val="10000"/>
              </a:srgbClr>
            </a:outerShdw>
          </a:effectLst>
        </p:spPr>
      </p:sp>
      <p:sp>
        <p:nvSpPr>
          <p:cNvPr id="26" name="Text 24"/>
          <p:cNvSpPr/>
          <p:nvPr/>
        </p:nvSpPr>
        <p:spPr>
          <a:xfrm>
            <a:off x="6080760" y="3072384"/>
            <a:ext cx="2697480" cy="640080"/>
          </a:xfrm>
          <a:prstGeom prst="rect">
            <a:avLst/>
          </a:prstGeom>
          <a:noFill/>
          <a:ln/>
        </p:spPr>
        <p:txBody>
          <a:bodyPr wrap="square" rtlCol="0" anchor="ctr"/>
          <a:lstStyle/>
          <a:p>
            <a:pPr algn="ctr" indent="0" marL="0">
              <a:buNone/>
            </a:pPr>
            <a:r>
              <a:rPr lang="en-US" sz="3200" b="1" dirty="0">
                <a:solidFill>
                  <a:srgbClr val="DC2626"/>
                </a:solidFill>
                <a:latin typeface="Cambria" pitchFamily="34" charset="0"/>
                <a:ea typeface="Cambria" pitchFamily="34" charset="-122"/>
                <a:cs typeface="Cambria" pitchFamily="34" charset="-120"/>
              </a:rPr>
              <a:t>1 / 7</a:t>
            </a:r>
            <a:endParaRPr lang="en-US" sz="3200" dirty="0"/>
          </a:p>
        </p:txBody>
      </p:sp>
      <p:sp>
        <p:nvSpPr>
          <p:cNvPr id="27" name="Text 25"/>
          <p:cNvSpPr/>
          <p:nvPr/>
        </p:nvSpPr>
        <p:spPr>
          <a:xfrm>
            <a:off x="6080760" y="3685032"/>
            <a:ext cx="269748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Of Total Reviews</a:t>
            </a:r>
            <a:endParaRPr lang="en-US" sz="1200" dirty="0"/>
          </a:p>
        </p:txBody>
      </p:sp>
      <p:sp>
        <p:nvSpPr>
          <p:cNvPr id="28" name="Text 26"/>
          <p:cNvSpPr/>
          <p:nvPr/>
        </p:nvSpPr>
        <p:spPr>
          <a:xfrm>
            <a:off x="6080760" y="3959352"/>
            <a:ext cx="2697480" cy="320040"/>
          </a:xfrm>
          <a:prstGeom prst="rect">
            <a:avLst/>
          </a:prstGeom>
          <a:noFill/>
          <a:ln/>
        </p:spPr>
        <p:txBody>
          <a:bodyPr wrap="square" rtlCol="0" anchor="ctr"/>
          <a:lstStyle/>
          <a:p>
            <a:pPr algn="ctr" indent="0" marL="0">
              <a:buNone/>
            </a:pPr>
            <a:r>
              <a:rPr lang="en-US" sz="900" dirty="0">
                <a:solidFill>
                  <a:srgbClr val="DBEAFE"/>
                </a:solidFill>
                <a:latin typeface="Calibri" pitchFamily="34" charset="0"/>
                <a:ea typeface="Calibri" pitchFamily="34" charset="-122"/>
                <a:cs typeface="Calibri" pitchFamily="34" charset="-120"/>
              </a:rPr>
              <a:t>~15% · Imagine the full picture</a:t>
            </a:r>
            <a:endParaRPr lang="en-US" sz="900" dirty="0"/>
          </a:p>
        </p:txBody>
      </p:sp>
      <p:sp>
        <p:nvSpPr>
          <p:cNvPr id="29" name="Text 27"/>
          <p:cNvSpPr/>
          <p:nvPr/>
        </p:nvSpPr>
        <p:spPr>
          <a:xfrm>
            <a:off x="320040" y="4718304"/>
            <a:ext cx="8503920" cy="320040"/>
          </a:xfrm>
          <a:prstGeom prst="rect">
            <a:avLst/>
          </a:prstGeom>
          <a:noFill/>
          <a:ln/>
        </p:spPr>
        <p:txBody>
          <a:bodyPr wrap="square" rtlCol="0" anchor="ctr"/>
          <a:lstStyle/>
          <a:p>
            <a:pPr algn="ctr" indent="0" marL="0">
              <a:buNone/>
            </a:pPr>
            <a:r>
              <a:rPr lang="en-US" sz="1100" i="1" dirty="0">
                <a:solidFill>
                  <a:srgbClr val="F59E0B"/>
                </a:solidFill>
                <a:latin typeface="Calibri" pitchFamily="34" charset="0"/>
                <a:ea typeface="Calibri" pitchFamily="34" charset="-122"/>
                <a:cs typeface="Calibri" pitchFamily="34" charset="-120"/>
              </a:rPr>
              <a:t>From just one-seventh of your reviews, we mapped every operational fault line in the hotel. Imagine the full picture.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A2856"/>
          </a:solidFill>
          <a:ln/>
        </p:spPr>
      </p:sp>
      <p:sp>
        <p:nvSpPr>
          <p:cNvPr id="3" name="Text 1"/>
          <p:cNvSpPr/>
          <p:nvPr/>
        </p:nvSpPr>
        <p:spPr>
          <a:xfrm>
            <a:off x="457200" y="201168"/>
            <a:ext cx="8229600" cy="320040"/>
          </a:xfrm>
          <a:prstGeom prst="rect">
            <a:avLst/>
          </a:prstGeom>
          <a:noFill/>
          <a:ln/>
        </p:spPr>
        <p:txBody>
          <a:bodyPr wrap="square" rtlCol="0" anchor="ctr"/>
          <a:lstStyle/>
          <a:p>
            <a:pPr indent="0" marL="0">
              <a:buNone/>
            </a:pPr>
            <a:r>
              <a:rPr lang="en-US" sz="1100" b="1" spc="300" kern="0" dirty="0">
                <a:solidFill>
                  <a:srgbClr val="F59E0B"/>
                </a:solidFill>
                <a:latin typeface="Calibri" pitchFamily="34" charset="0"/>
                <a:ea typeface="Calibri" pitchFamily="34" charset="-122"/>
                <a:cs typeface="Calibri" pitchFamily="34" charset="-120"/>
              </a:rPr>
              <a:t>WHAT WE FOUND</a:t>
            </a:r>
            <a:endParaRPr lang="en-US" sz="1100" dirty="0"/>
          </a:p>
        </p:txBody>
      </p:sp>
      <p:sp>
        <p:nvSpPr>
          <p:cNvPr id="4" name="Text 2"/>
          <p:cNvSpPr/>
          <p:nvPr/>
        </p:nvSpPr>
        <p:spPr>
          <a:xfrm>
            <a:off x="457200" y="475488"/>
            <a:ext cx="8229600" cy="502920"/>
          </a:xfrm>
          <a:prstGeom prst="rect">
            <a:avLst/>
          </a:prstGeom>
          <a:noFill/>
          <a:ln/>
        </p:spPr>
        <p:txBody>
          <a:bodyPr wrap="square" rtlCol="0" anchor="ctr"/>
          <a:lstStyle/>
          <a:p>
            <a:pPr indent="0" marL="0">
              <a:buNone/>
            </a:pPr>
            <a:r>
              <a:rPr lang="en-US" sz="2600" b="1" dirty="0">
                <a:solidFill>
                  <a:srgbClr val="1A2856"/>
                </a:solidFill>
                <a:latin typeface="Cambria" pitchFamily="34" charset="0"/>
                <a:ea typeface="Cambria" pitchFamily="34" charset="-122"/>
                <a:cs typeface="Cambria" pitchFamily="34" charset="-120"/>
              </a:rPr>
              <a:t>The Issues That Cost You Money</a:t>
            </a:r>
            <a:endParaRPr lang="en-US" sz="2600" dirty="0"/>
          </a:p>
        </p:txBody>
      </p:sp>
      <p:sp>
        <p:nvSpPr>
          <p:cNvPr id="5" name="Shape 3"/>
          <p:cNvSpPr/>
          <p:nvPr/>
        </p:nvSpPr>
        <p:spPr>
          <a:xfrm>
            <a:off x="320040" y="1207008"/>
            <a:ext cx="8503920" cy="320040"/>
          </a:xfrm>
          <a:prstGeom prst="rect">
            <a:avLst/>
          </a:prstGeom>
          <a:solidFill>
            <a:srgbClr val="1A2856"/>
          </a:solidFill>
          <a:ln/>
        </p:spPr>
      </p:sp>
      <p:sp>
        <p:nvSpPr>
          <p:cNvPr id="6" name="Text 4"/>
          <p:cNvSpPr/>
          <p:nvPr/>
        </p:nvSpPr>
        <p:spPr>
          <a:xfrm>
            <a:off x="960120" y="1207008"/>
            <a:ext cx="4663440" cy="320040"/>
          </a:xfrm>
          <a:prstGeom prst="rect">
            <a:avLst/>
          </a:prstGeom>
          <a:noFill/>
          <a:ln/>
        </p:spPr>
        <p:txBody>
          <a:bodyPr wrap="square" lIns="0" tIns="0" rIns="0" bIns="0" rtlCol="0" anchor="ctr"/>
          <a:lstStyle/>
          <a:p>
            <a:pPr indent="0" marL="0">
              <a:buNone/>
            </a:pPr>
            <a:r>
              <a:rPr lang="en-US" sz="900" b="1" spc="200" kern="0" dirty="0">
                <a:solidFill>
                  <a:srgbClr val="FFFFFF"/>
                </a:solidFill>
                <a:latin typeface="Calibri" pitchFamily="34" charset="0"/>
                <a:ea typeface="Calibri" pitchFamily="34" charset="-122"/>
                <a:cs typeface="Calibri" pitchFamily="34" charset="-120"/>
              </a:rPr>
              <a:t>ISSUE</a:t>
            </a:r>
            <a:endParaRPr lang="en-US" sz="900" dirty="0"/>
          </a:p>
        </p:txBody>
      </p:sp>
      <p:sp>
        <p:nvSpPr>
          <p:cNvPr id="7" name="Text 5"/>
          <p:cNvSpPr/>
          <p:nvPr/>
        </p:nvSpPr>
        <p:spPr>
          <a:xfrm>
            <a:off x="5623560" y="1207008"/>
            <a:ext cx="1005840" cy="3200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MENTIONS</a:t>
            </a:r>
            <a:endParaRPr lang="en-US" sz="900" dirty="0"/>
          </a:p>
        </p:txBody>
      </p:sp>
      <p:sp>
        <p:nvSpPr>
          <p:cNvPr id="8" name="Text 6"/>
          <p:cNvSpPr/>
          <p:nvPr/>
        </p:nvSpPr>
        <p:spPr>
          <a:xfrm>
            <a:off x="6629400" y="1207008"/>
            <a:ext cx="822960" cy="3200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RISK</a:t>
            </a:r>
            <a:endParaRPr lang="en-US" sz="900" dirty="0"/>
          </a:p>
        </p:txBody>
      </p:sp>
      <p:sp>
        <p:nvSpPr>
          <p:cNvPr id="9" name="Text 7"/>
          <p:cNvSpPr/>
          <p:nvPr/>
        </p:nvSpPr>
        <p:spPr>
          <a:xfrm>
            <a:off x="7452360" y="1207008"/>
            <a:ext cx="1371600" cy="3200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OWNER</a:t>
            </a:r>
            <a:endParaRPr lang="en-US" sz="900" dirty="0"/>
          </a:p>
        </p:txBody>
      </p:sp>
      <p:sp>
        <p:nvSpPr>
          <p:cNvPr id="10" name="Shape 8"/>
          <p:cNvSpPr/>
          <p:nvPr/>
        </p:nvSpPr>
        <p:spPr>
          <a:xfrm>
            <a:off x="320040" y="1536192"/>
            <a:ext cx="8503920" cy="420624"/>
          </a:xfrm>
          <a:prstGeom prst="rect">
            <a:avLst/>
          </a:prstGeom>
          <a:solidFill>
            <a:srgbClr val="FFFFFF"/>
          </a:solidFill>
          <a:ln/>
        </p:spPr>
      </p:sp>
      <p:pic>
        <p:nvPicPr>
          <p:cNvPr id="11" name="Image 0" descr="preencoded.png">    </p:cNvPr>
          <p:cNvPicPr>
            <a:picLocks noChangeAspect="1"/>
          </p:cNvPicPr>
          <p:nvPr/>
        </p:nvPicPr>
        <p:blipFill>
          <a:blip r:embed="rId1"/>
          <a:stretch>
            <a:fillRect/>
          </a:stretch>
        </p:blipFill>
        <p:spPr>
          <a:xfrm>
            <a:off x="411480" y="1627632"/>
            <a:ext cx="256032" cy="256032"/>
          </a:xfrm>
          <a:prstGeom prst="rect">
            <a:avLst/>
          </a:prstGeom>
        </p:spPr>
      </p:pic>
      <p:sp>
        <p:nvSpPr>
          <p:cNvPr id="12" name="Text 9"/>
          <p:cNvSpPr/>
          <p:nvPr/>
        </p:nvSpPr>
        <p:spPr>
          <a:xfrm>
            <a:off x="777240" y="1591056"/>
            <a:ext cx="4754880" cy="32004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Loud music / event noise</a:t>
            </a:r>
            <a:endParaRPr lang="en-US" sz="1100" dirty="0"/>
          </a:p>
        </p:txBody>
      </p:sp>
      <p:sp>
        <p:nvSpPr>
          <p:cNvPr id="13" name="Text 10"/>
          <p:cNvSpPr/>
          <p:nvPr/>
        </p:nvSpPr>
        <p:spPr>
          <a:xfrm>
            <a:off x="5623560" y="1591056"/>
            <a:ext cx="1005840" cy="320040"/>
          </a:xfrm>
          <a:prstGeom prst="rect">
            <a:avLst/>
          </a:prstGeom>
          <a:noFill/>
          <a:ln/>
        </p:spPr>
        <p:txBody>
          <a:bodyPr wrap="square" lIns="0" tIns="0" rIns="0" bIns="0" rtlCol="0" anchor="ctr"/>
          <a:lstStyle/>
          <a:p>
            <a:pPr algn="ctr" indent="0" marL="0">
              <a:buNone/>
            </a:pPr>
            <a:r>
              <a:rPr lang="en-US" sz="1300" b="1" dirty="0">
                <a:solidFill>
                  <a:srgbClr val="1A2856"/>
                </a:solidFill>
                <a:latin typeface="Cambria" pitchFamily="34" charset="0"/>
                <a:ea typeface="Cambria" pitchFamily="34" charset="-122"/>
                <a:cs typeface="Cambria" pitchFamily="34" charset="-120"/>
              </a:rPr>
              <a:t>201</a:t>
            </a:r>
            <a:endParaRPr lang="en-US" sz="1300" dirty="0"/>
          </a:p>
        </p:txBody>
      </p:sp>
      <p:sp>
        <p:nvSpPr>
          <p:cNvPr id="14" name="Shape 11"/>
          <p:cNvSpPr/>
          <p:nvPr/>
        </p:nvSpPr>
        <p:spPr>
          <a:xfrm>
            <a:off x="6675120" y="1600200"/>
            <a:ext cx="658368" cy="292608"/>
          </a:xfrm>
          <a:prstGeom prst="roundRect">
            <a:avLst>
              <a:gd name="adj" fmla="val 18750"/>
            </a:avLst>
          </a:prstGeom>
          <a:solidFill>
            <a:srgbClr val="DC2626"/>
          </a:solidFill>
          <a:ln/>
        </p:spPr>
      </p:sp>
      <p:sp>
        <p:nvSpPr>
          <p:cNvPr id="15" name="Text 12"/>
          <p:cNvSpPr/>
          <p:nvPr/>
        </p:nvSpPr>
        <p:spPr>
          <a:xfrm>
            <a:off x="6675120" y="1591056"/>
            <a:ext cx="658368" cy="30175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89</a:t>
            </a:r>
            <a:endParaRPr lang="en-US" sz="1100" dirty="0"/>
          </a:p>
        </p:txBody>
      </p:sp>
      <p:sp>
        <p:nvSpPr>
          <p:cNvPr id="16" name="Text 13"/>
          <p:cNvSpPr/>
          <p:nvPr/>
        </p:nvSpPr>
        <p:spPr>
          <a:xfrm>
            <a:off x="7452360" y="1591056"/>
            <a:ext cx="1371600" cy="32004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Management</a:t>
            </a:r>
            <a:endParaRPr lang="en-US" sz="1000" dirty="0"/>
          </a:p>
        </p:txBody>
      </p:sp>
      <p:sp>
        <p:nvSpPr>
          <p:cNvPr id="17" name="Shape 14"/>
          <p:cNvSpPr/>
          <p:nvPr/>
        </p:nvSpPr>
        <p:spPr>
          <a:xfrm>
            <a:off x="320040" y="1984248"/>
            <a:ext cx="8503920" cy="420624"/>
          </a:xfrm>
          <a:prstGeom prst="rect">
            <a:avLst/>
          </a:prstGeom>
          <a:solidFill>
            <a:srgbClr val="DBEAFE"/>
          </a:solidFill>
          <a:ln/>
        </p:spPr>
      </p:sp>
      <p:pic>
        <p:nvPicPr>
          <p:cNvPr id="18" name="Image 1" descr="preencoded.png">    </p:cNvPr>
          <p:cNvPicPr>
            <a:picLocks noChangeAspect="1"/>
          </p:cNvPicPr>
          <p:nvPr/>
        </p:nvPicPr>
        <p:blipFill>
          <a:blip r:embed="rId2"/>
          <a:stretch>
            <a:fillRect/>
          </a:stretch>
        </p:blipFill>
        <p:spPr>
          <a:xfrm>
            <a:off x="411480" y="2075688"/>
            <a:ext cx="256032" cy="256032"/>
          </a:xfrm>
          <a:prstGeom prst="rect">
            <a:avLst/>
          </a:prstGeom>
        </p:spPr>
      </p:pic>
      <p:sp>
        <p:nvSpPr>
          <p:cNvPr id="19" name="Text 15"/>
          <p:cNvSpPr/>
          <p:nvPr/>
        </p:nvSpPr>
        <p:spPr>
          <a:xfrm>
            <a:off x="777240" y="2039112"/>
            <a:ext cx="4754880" cy="32004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AC fails to cool rooms</a:t>
            </a:r>
            <a:endParaRPr lang="en-US" sz="1100" dirty="0"/>
          </a:p>
        </p:txBody>
      </p:sp>
      <p:sp>
        <p:nvSpPr>
          <p:cNvPr id="20" name="Text 16"/>
          <p:cNvSpPr/>
          <p:nvPr/>
        </p:nvSpPr>
        <p:spPr>
          <a:xfrm>
            <a:off x="5623560" y="2039112"/>
            <a:ext cx="1005840" cy="320040"/>
          </a:xfrm>
          <a:prstGeom prst="rect">
            <a:avLst/>
          </a:prstGeom>
          <a:noFill/>
          <a:ln/>
        </p:spPr>
        <p:txBody>
          <a:bodyPr wrap="square" lIns="0" tIns="0" rIns="0" bIns="0" rtlCol="0" anchor="ctr"/>
          <a:lstStyle/>
          <a:p>
            <a:pPr algn="ctr" indent="0" marL="0">
              <a:buNone/>
            </a:pPr>
            <a:r>
              <a:rPr lang="en-US" sz="1300" b="1" dirty="0">
                <a:solidFill>
                  <a:srgbClr val="1A2856"/>
                </a:solidFill>
                <a:latin typeface="Cambria" pitchFamily="34" charset="0"/>
                <a:ea typeface="Cambria" pitchFamily="34" charset="-122"/>
                <a:cs typeface="Cambria" pitchFamily="34" charset="-120"/>
              </a:rPr>
              <a:t>174</a:t>
            </a:r>
            <a:endParaRPr lang="en-US" sz="1300" dirty="0"/>
          </a:p>
        </p:txBody>
      </p:sp>
      <p:sp>
        <p:nvSpPr>
          <p:cNvPr id="21" name="Shape 17"/>
          <p:cNvSpPr/>
          <p:nvPr/>
        </p:nvSpPr>
        <p:spPr>
          <a:xfrm>
            <a:off x="6675120" y="2048256"/>
            <a:ext cx="658368" cy="292608"/>
          </a:xfrm>
          <a:prstGeom prst="roundRect">
            <a:avLst>
              <a:gd name="adj" fmla="val 18750"/>
            </a:avLst>
          </a:prstGeom>
          <a:solidFill>
            <a:srgbClr val="D97706"/>
          </a:solidFill>
          <a:ln/>
        </p:spPr>
      </p:sp>
      <p:sp>
        <p:nvSpPr>
          <p:cNvPr id="22" name="Text 18"/>
          <p:cNvSpPr/>
          <p:nvPr/>
        </p:nvSpPr>
        <p:spPr>
          <a:xfrm>
            <a:off x="6675120" y="2039112"/>
            <a:ext cx="658368" cy="30175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74</a:t>
            </a:r>
            <a:endParaRPr lang="en-US" sz="1100" dirty="0"/>
          </a:p>
        </p:txBody>
      </p:sp>
      <p:sp>
        <p:nvSpPr>
          <p:cNvPr id="23" name="Text 19"/>
          <p:cNvSpPr/>
          <p:nvPr/>
        </p:nvSpPr>
        <p:spPr>
          <a:xfrm>
            <a:off x="7452360" y="2039112"/>
            <a:ext cx="1371600" cy="32004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Engineering</a:t>
            </a:r>
            <a:endParaRPr lang="en-US" sz="1000" dirty="0"/>
          </a:p>
        </p:txBody>
      </p:sp>
      <p:sp>
        <p:nvSpPr>
          <p:cNvPr id="24" name="Shape 20"/>
          <p:cNvSpPr/>
          <p:nvPr/>
        </p:nvSpPr>
        <p:spPr>
          <a:xfrm>
            <a:off x="320040" y="2432304"/>
            <a:ext cx="8503920" cy="420624"/>
          </a:xfrm>
          <a:prstGeom prst="rect">
            <a:avLst/>
          </a:prstGeom>
          <a:solidFill>
            <a:srgbClr val="FFFFFF"/>
          </a:solidFill>
          <a:ln/>
        </p:spPr>
      </p:sp>
      <p:pic>
        <p:nvPicPr>
          <p:cNvPr id="25" name="Image 2" descr="preencoded.png">    </p:cNvPr>
          <p:cNvPicPr>
            <a:picLocks noChangeAspect="1"/>
          </p:cNvPicPr>
          <p:nvPr/>
        </p:nvPicPr>
        <p:blipFill>
          <a:blip r:embed="rId3"/>
          <a:stretch>
            <a:fillRect/>
          </a:stretch>
        </p:blipFill>
        <p:spPr>
          <a:xfrm>
            <a:off x="411480" y="2523744"/>
            <a:ext cx="256032" cy="256032"/>
          </a:xfrm>
          <a:prstGeom prst="rect">
            <a:avLst/>
          </a:prstGeom>
        </p:spPr>
      </p:pic>
      <p:sp>
        <p:nvSpPr>
          <p:cNvPr id="26" name="Text 21"/>
          <p:cNvSpPr/>
          <p:nvPr/>
        </p:nvSpPr>
        <p:spPr>
          <a:xfrm>
            <a:off x="777240" y="2487168"/>
            <a:ext cx="4754880" cy="32004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Long wait at check-in/out</a:t>
            </a:r>
            <a:endParaRPr lang="en-US" sz="1100" dirty="0"/>
          </a:p>
        </p:txBody>
      </p:sp>
      <p:sp>
        <p:nvSpPr>
          <p:cNvPr id="27" name="Text 22"/>
          <p:cNvSpPr/>
          <p:nvPr/>
        </p:nvSpPr>
        <p:spPr>
          <a:xfrm>
            <a:off x="5623560" y="2487168"/>
            <a:ext cx="1005840" cy="320040"/>
          </a:xfrm>
          <a:prstGeom prst="rect">
            <a:avLst/>
          </a:prstGeom>
          <a:noFill/>
          <a:ln/>
        </p:spPr>
        <p:txBody>
          <a:bodyPr wrap="square" lIns="0" tIns="0" rIns="0" bIns="0" rtlCol="0" anchor="ctr"/>
          <a:lstStyle/>
          <a:p>
            <a:pPr algn="ctr" indent="0" marL="0">
              <a:buNone/>
            </a:pPr>
            <a:r>
              <a:rPr lang="en-US" sz="1300" b="1" dirty="0">
                <a:solidFill>
                  <a:srgbClr val="1A2856"/>
                </a:solidFill>
                <a:latin typeface="Cambria" pitchFamily="34" charset="0"/>
                <a:ea typeface="Cambria" pitchFamily="34" charset="-122"/>
                <a:cs typeface="Cambria" pitchFamily="34" charset="-120"/>
              </a:rPr>
              <a:t>169</a:t>
            </a:r>
            <a:endParaRPr lang="en-US" sz="1300" dirty="0"/>
          </a:p>
        </p:txBody>
      </p:sp>
      <p:sp>
        <p:nvSpPr>
          <p:cNvPr id="28" name="Shape 23"/>
          <p:cNvSpPr/>
          <p:nvPr/>
        </p:nvSpPr>
        <p:spPr>
          <a:xfrm>
            <a:off x="6675120" y="2496312"/>
            <a:ext cx="658368" cy="292608"/>
          </a:xfrm>
          <a:prstGeom prst="roundRect">
            <a:avLst>
              <a:gd name="adj" fmla="val 18750"/>
            </a:avLst>
          </a:prstGeom>
          <a:solidFill>
            <a:srgbClr val="DC2626"/>
          </a:solidFill>
          <a:ln/>
        </p:spPr>
      </p:sp>
      <p:sp>
        <p:nvSpPr>
          <p:cNvPr id="29" name="Text 24"/>
          <p:cNvSpPr/>
          <p:nvPr/>
        </p:nvSpPr>
        <p:spPr>
          <a:xfrm>
            <a:off x="6675120" y="2487168"/>
            <a:ext cx="658368" cy="30175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85</a:t>
            </a:r>
            <a:endParaRPr lang="en-US" sz="1100" dirty="0"/>
          </a:p>
        </p:txBody>
      </p:sp>
      <p:sp>
        <p:nvSpPr>
          <p:cNvPr id="30" name="Text 25"/>
          <p:cNvSpPr/>
          <p:nvPr/>
        </p:nvSpPr>
        <p:spPr>
          <a:xfrm>
            <a:off x="7452360" y="2487168"/>
            <a:ext cx="1371600" cy="32004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Front Office</a:t>
            </a:r>
            <a:endParaRPr lang="en-US" sz="1000" dirty="0"/>
          </a:p>
        </p:txBody>
      </p:sp>
      <p:sp>
        <p:nvSpPr>
          <p:cNvPr id="31" name="Shape 26"/>
          <p:cNvSpPr/>
          <p:nvPr/>
        </p:nvSpPr>
        <p:spPr>
          <a:xfrm>
            <a:off x="320040" y="2880360"/>
            <a:ext cx="8503920" cy="420624"/>
          </a:xfrm>
          <a:prstGeom prst="rect">
            <a:avLst/>
          </a:prstGeom>
          <a:solidFill>
            <a:srgbClr val="DBEAFE"/>
          </a:solidFill>
          <a:ln/>
        </p:spPr>
      </p:sp>
      <p:pic>
        <p:nvPicPr>
          <p:cNvPr id="32" name="Image 3" descr="preencoded.png">    </p:cNvPr>
          <p:cNvPicPr>
            <a:picLocks noChangeAspect="1"/>
          </p:cNvPicPr>
          <p:nvPr/>
        </p:nvPicPr>
        <p:blipFill>
          <a:blip r:embed="rId4"/>
          <a:stretch>
            <a:fillRect/>
          </a:stretch>
        </p:blipFill>
        <p:spPr>
          <a:xfrm>
            <a:off x="411480" y="2971800"/>
            <a:ext cx="256032" cy="256032"/>
          </a:xfrm>
          <a:prstGeom prst="rect">
            <a:avLst/>
          </a:prstGeom>
        </p:spPr>
      </p:pic>
      <p:sp>
        <p:nvSpPr>
          <p:cNvPr id="33" name="Text 27"/>
          <p:cNvSpPr/>
          <p:nvPr/>
        </p:nvSpPr>
        <p:spPr>
          <a:xfrm>
            <a:off x="777240" y="2935224"/>
            <a:ext cx="4754880" cy="32004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Breakfast buffet not replenished</a:t>
            </a:r>
            <a:endParaRPr lang="en-US" sz="1100" dirty="0"/>
          </a:p>
        </p:txBody>
      </p:sp>
      <p:sp>
        <p:nvSpPr>
          <p:cNvPr id="34" name="Text 28"/>
          <p:cNvSpPr/>
          <p:nvPr/>
        </p:nvSpPr>
        <p:spPr>
          <a:xfrm>
            <a:off x="5623560" y="2935224"/>
            <a:ext cx="1005840" cy="320040"/>
          </a:xfrm>
          <a:prstGeom prst="rect">
            <a:avLst/>
          </a:prstGeom>
          <a:noFill/>
          <a:ln/>
        </p:spPr>
        <p:txBody>
          <a:bodyPr wrap="square" lIns="0" tIns="0" rIns="0" bIns="0" rtlCol="0" anchor="ctr"/>
          <a:lstStyle/>
          <a:p>
            <a:pPr algn="ctr" indent="0" marL="0">
              <a:buNone/>
            </a:pPr>
            <a:r>
              <a:rPr lang="en-US" sz="1300" b="1" dirty="0">
                <a:solidFill>
                  <a:srgbClr val="1A2856"/>
                </a:solidFill>
                <a:latin typeface="Cambria" pitchFamily="34" charset="0"/>
                <a:ea typeface="Cambria" pitchFamily="34" charset="-122"/>
                <a:cs typeface="Cambria" pitchFamily="34" charset="-120"/>
              </a:rPr>
              <a:t>136</a:t>
            </a:r>
            <a:endParaRPr lang="en-US" sz="1300" dirty="0"/>
          </a:p>
        </p:txBody>
      </p:sp>
      <p:sp>
        <p:nvSpPr>
          <p:cNvPr id="35" name="Shape 29"/>
          <p:cNvSpPr/>
          <p:nvPr/>
        </p:nvSpPr>
        <p:spPr>
          <a:xfrm>
            <a:off x="6675120" y="2944368"/>
            <a:ext cx="658368" cy="292608"/>
          </a:xfrm>
          <a:prstGeom prst="roundRect">
            <a:avLst>
              <a:gd name="adj" fmla="val 18750"/>
            </a:avLst>
          </a:prstGeom>
          <a:solidFill>
            <a:srgbClr val="D97706"/>
          </a:solidFill>
          <a:ln/>
        </p:spPr>
      </p:sp>
      <p:sp>
        <p:nvSpPr>
          <p:cNvPr id="36" name="Text 30"/>
          <p:cNvSpPr/>
          <p:nvPr/>
        </p:nvSpPr>
        <p:spPr>
          <a:xfrm>
            <a:off x="6675120" y="2935224"/>
            <a:ext cx="658368" cy="30175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72</a:t>
            </a:r>
            <a:endParaRPr lang="en-US" sz="1100" dirty="0"/>
          </a:p>
        </p:txBody>
      </p:sp>
      <p:sp>
        <p:nvSpPr>
          <p:cNvPr id="37" name="Text 31"/>
          <p:cNvSpPr/>
          <p:nvPr/>
        </p:nvSpPr>
        <p:spPr>
          <a:xfrm>
            <a:off x="7452360" y="2935224"/>
            <a:ext cx="1371600" cy="32004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F&amp;B</a:t>
            </a:r>
            <a:endParaRPr lang="en-US" sz="1000" dirty="0"/>
          </a:p>
        </p:txBody>
      </p:sp>
      <p:sp>
        <p:nvSpPr>
          <p:cNvPr id="38" name="Shape 32"/>
          <p:cNvSpPr/>
          <p:nvPr/>
        </p:nvSpPr>
        <p:spPr>
          <a:xfrm>
            <a:off x="320040" y="3328416"/>
            <a:ext cx="8503920" cy="420624"/>
          </a:xfrm>
          <a:prstGeom prst="rect">
            <a:avLst/>
          </a:prstGeom>
          <a:solidFill>
            <a:srgbClr val="FFFFFF"/>
          </a:solidFill>
          <a:ln/>
        </p:spPr>
      </p:sp>
      <p:pic>
        <p:nvPicPr>
          <p:cNvPr id="39" name="Image 4" descr="preencoded.png">    </p:cNvPr>
          <p:cNvPicPr>
            <a:picLocks noChangeAspect="1"/>
          </p:cNvPicPr>
          <p:nvPr/>
        </p:nvPicPr>
        <p:blipFill>
          <a:blip r:embed="rId5"/>
          <a:stretch>
            <a:fillRect/>
          </a:stretch>
        </p:blipFill>
        <p:spPr>
          <a:xfrm>
            <a:off x="411480" y="3419856"/>
            <a:ext cx="256032" cy="256032"/>
          </a:xfrm>
          <a:prstGeom prst="rect">
            <a:avLst/>
          </a:prstGeom>
        </p:spPr>
      </p:pic>
      <p:sp>
        <p:nvSpPr>
          <p:cNvPr id="40" name="Text 33"/>
          <p:cNvSpPr/>
          <p:nvPr/>
        </p:nvSpPr>
        <p:spPr>
          <a:xfrm>
            <a:off x="777240" y="3383280"/>
            <a:ext cx="4754880" cy="32004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Incorrect charges on bill</a:t>
            </a:r>
            <a:endParaRPr lang="en-US" sz="1100" dirty="0"/>
          </a:p>
        </p:txBody>
      </p:sp>
      <p:sp>
        <p:nvSpPr>
          <p:cNvPr id="41" name="Text 34"/>
          <p:cNvSpPr/>
          <p:nvPr/>
        </p:nvSpPr>
        <p:spPr>
          <a:xfrm>
            <a:off x="5623560" y="3383280"/>
            <a:ext cx="1005840" cy="320040"/>
          </a:xfrm>
          <a:prstGeom prst="rect">
            <a:avLst/>
          </a:prstGeom>
          <a:noFill/>
          <a:ln/>
        </p:spPr>
        <p:txBody>
          <a:bodyPr wrap="square" lIns="0" tIns="0" rIns="0" bIns="0" rtlCol="0" anchor="ctr"/>
          <a:lstStyle/>
          <a:p>
            <a:pPr algn="ctr" indent="0" marL="0">
              <a:buNone/>
            </a:pPr>
            <a:r>
              <a:rPr lang="en-US" sz="1300" b="1" dirty="0">
                <a:solidFill>
                  <a:srgbClr val="1A2856"/>
                </a:solidFill>
                <a:latin typeface="Cambria" pitchFamily="34" charset="0"/>
                <a:ea typeface="Cambria" pitchFamily="34" charset="-122"/>
                <a:cs typeface="Cambria" pitchFamily="34" charset="-120"/>
              </a:rPr>
              <a:t>122</a:t>
            </a:r>
            <a:endParaRPr lang="en-US" sz="1300" dirty="0"/>
          </a:p>
        </p:txBody>
      </p:sp>
      <p:sp>
        <p:nvSpPr>
          <p:cNvPr id="42" name="Shape 35"/>
          <p:cNvSpPr/>
          <p:nvPr/>
        </p:nvSpPr>
        <p:spPr>
          <a:xfrm>
            <a:off x="6675120" y="3392424"/>
            <a:ext cx="658368" cy="292608"/>
          </a:xfrm>
          <a:prstGeom prst="roundRect">
            <a:avLst>
              <a:gd name="adj" fmla="val 18750"/>
            </a:avLst>
          </a:prstGeom>
          <a:solidFill>
            <a:srgbClr val="DC2626"/>
          </a:solidFill>
          <a:ln/>
        </p:spPr>
      </p:sp>
      <p:sp>
        <p:nvSpPr>
          <p:cNvPr id="43" name="Text 36"/>
          <p:cNvSpPr/>
          <p:nvPr/>
        </p:nvSpPr>
        <p:spPr>
          <a:xfrm>
            <a:off x="6675120" y="3383280"/>
            <a:ext cx="658368" cy="30175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82</a:t>
            </a:r>
            <a:endParaRPr lang="en-US" sz="1100" dirty="0"/>
          </a:p>
        </p:txBody>
      </p:sp>
      <p:sp>
        <p:nvSpPr>
          <p:cNvPr id="44" name="Text 37"/>
          <p:cNvSpPr/>
          <p:nvPr/>
        </p:nvSpPr>
        <p:spPr>
          <a:xfrm>
            <a:off x="7452360" y="3383280"/>
            <a:ext cx="1371600" cy="32004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Front Office</a:t>
            </a:r>
            <a:endParaRPr lang="en-US" sz="1000" dirty="0"/>
          </a:p>
        </p:txBody>
      </p:sp>
      <p:sp>
        <p:nvSpPr>
          <p:cNvPr id="45" name="Shape 38"/>
          <p:cNvSpPr/>
          <p:nvPr/>
        </p:nvSpPr>
        <p:spPr>
          <a:xfrm>
            <a:off x="320040" y="3776472"/>
            <a:ext cx="8503920" cy="420624"/>
          </a:xfrm>
          <a:prstGeom prst="rect">
            <a:avLst/>
          </a:prstGeom>
          <a:solidFill>
            <a:srgbClr val="DBEAFE"/>
          </a:solidFill>
          <a:ln/>
        </p:spPr>
      </p:sp>
      <p:pic>
        <p:nvPicPr>
          <p:cNvPr id="46" name="Image 5" descr="preencoded.png">    </p:cNvPr>
          <p:cNvPicPr>
            <a:picLocks noChangeAspect="1"/>
          </p:cNvPicPr>
          <p:nvPr/>
        </p:nvPicPr>
        <p:blipFill>
          <a:blip r:embed="rId6"/>
          <a:stretch>
            <a:fillRect/>
          </a:stretch>
        </p:blipFill>
        <p:spPr>
          <a:xfrm>
            <a:off x="411480" y="3867912"/>
            <a:ext cx="256032" cy="256032"/>
          </a:xfrm>
          <a:prstGeom prst="rect">
            <a:avLst/>
          </a:prstGeom>
        </p:spPr>
      </p:pic>
      <p:sp>
        <p:nvSpPr>
          <p:cNvPr id="47" name="Text 39"/>
          <p:cNvSpPr/>
          <p:nvPr/>
        </p:nvSpPr>
        <p:spPr>
          <a:xfrm>
            <a:off x="777240" y="3831336"/>
            <a:ext cx="4754880" cy="32004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Slow / unstable WiFi</a:t>
            </a:r>
            <a:endParaRPr lang="en-US" sz="1100" dirty="0"/>
          </a:p>
        </p:txBody>
      </p:sp>
      <p:sp>
        <p:nvSpPr>
          <p:cNvPr id="48" name="Text 40"/>
          <p:cNvSpPr/>
          <p:nvPr/>
        </p:nvSpPr>
        <p:spPr>
          <a:xfrm>
            <a:off x="5623560" y="3831336"/>
            <a:ext cx="1005840" cy="320040"/>
          </a:xfrm>
          <a:prstGeom prst="rect">
            <a:avLst/>
          </a:prstGeom>
          <a:noFill/>
          <a:ln/>
        </p:spPr>
        <p:txBody>
          <a:bodyPr wrap="square" lIns="0" tIns="0" rIns="0" bIns="0" rtlCol="0" anchor="ctr"/>
          <a:lstStyle/>
          <a:p>
            <a:pPr algn="ctr" indent="0" marL="0">
              <a:buNone/>
            </a:pPr>
            <a:r>
              <a:rPr lang="en-US" sz="1300" b="1" dirty="0">
                <a:solidFill>
                  <a:srgbClr val="1A2856"/>
                </a:solidFill>
                <a:latin typeface="Cambria" pitchFamily="34" charset="0"/>
                <a:ea typeface="Cambria" pitchFamily="34" charset="-122"/>
                <a:cs typeface="Cambria" pitchFamily="34" charset="-120"/>
              </a:rPr>
              <a:t>114</a:t>
            </a:r>
            <a:endParaRPr lang="en-US" sz="1300" dirty="0"/>
          </a:p>
        </p:txBody>
      </p:sp>
      <p:sp>
        <p:nvSpPr>
          <p:cNvPr id="49" name="Shape 41"/>
          <p:cNvSpPr/>
          <p:nvPr/>
        </p:nvSpPr>
        <p:spPr>
          <a:xfrm>
            <a:off x="6675120" y="3840480"/>
            <a:ext cx="658368" cy="292608"/>
          </a:xfrm>
          <a:prstGeom prst="roundRect">
            <a:avLst>
              <a:gd name="adj" fmla="val 18750"/>
            </a:avLst>
          </a:prstGeom>
          <a:solidFill>
            <a:srgbClr val="DC2626"/>
          </a:solidFill>
          <a:ln/>
        </p:spPr>
      </p:sp>
      <p:sp>
        <p:nvSpPr>
          <p:cNvPr id="50" name="Text 42"/>
          <p:cNvSpPr/>
          <p:nvPr/>
        </p:nvSpPr>
        <p:spPr>
          <a:xfrm>
            <a:off x="6675120" y="3831336"/>
            <a:ext cx="658368" cy="30175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85</a:t>
            </a:r>
            <a:endParaRPr lang="en-US" sz="1100" dirty="0"/>
          </a:p>
        </p:txBody>
      </p:sp>
      <p:sp>
        <p:nvSpPr>
          <p:cNvPr id="51" name="Text 43"/>
          <p:cNvSpPr/>
          <p:nvPr/>
        </p:nvSpPr>
        <p:spPr>
          <a:xfrm>
            <a:off x="7452360" y="3831336"/>
            <a:ext cx="1371600" cy="32004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Engineering</a:t>
            </a:r>
            <a:endParaRPr lang="en-US" sz="1000" dirty="0"/>
          </a:p>
        </p:txBody>
      </p:sp>
      <p:sp>
        <p:nvSpPr>
          <p:cNvPr id="52" name="Shape 44"/>
          <p:cNvSpPr/>
          <p:nvPr/>
        </p:nvSpPr>
        <p:spPr>
          <a:xfrm>
            <a:off x="320040" y="4224528"/>
            <a:ext cx="8503920" cy="420624"/>
          </a:xfrm>
          <a:prstGeom prst="rect">
            <a:avLst/>
          </a:prstGeom>
          <a:solidFill>
            <a:srgbClr val="FFFFFF"/>
          </a:solidFill>
          <a:ln/>
        </p:spPr>
      </p:sp>
      <p:pic>
        <p:nvPicPr>
          <p:cNvPr id="53" name="Image 6" descr="preencoded.png">    </p:cNvPr>
          <p:cNvPicPr>
            <a:picLocks noChangeAspect="1"/>
          </p:cNvPicPr>
          <p:nvPr/>
        </p:nvPicPr>
        <p:blipFill>
          <a:blip r:embed="rId7"/>
          <a:stretch>
            <a:fillRect/>
          </a:stretch>
        </p:blipFill>
        <p:spPr>
          <a:xfrm>
            <a:off x="411480" y="4315968"/>
            <a:ext cx="256032" cy="256032"/>
          </a:xfrm>
          <a:prstGeom prst="rect">
            <a:avLst/>
          </a:prstGeom>
        </p:spPr>
      </p:pic>
      <p:sp>
        <p:nvSpPr>
          <p:cNvPr id="54" name="Text 45"/>
          <p:cNvSpPr/>
          <p:nvPr/>
        </p:nvSpPr>
        <p:spPr>
          <a:xfrm>
            <a:off x="777240" y="4279392"/>
            <a:ext cx="4754880" cy="32004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Poor food quality</a:t>
            </a:r>
            <a:endParaRPr lang="en-US" sz="1100" dirty="0"/>
          </a:p>
        </p:txBody>
      </p:sp>
      <p:sp>
        <p:nvSpPr>
          <p:cNvPr id="55" name="Text 46"/>
          <p:cNvSpPr/>
          <p:nvPr/>
        </p:nvSpPr>
        <p:spPr>
          <a:xfrm>
            <a:off x="5623560" y="4279392"/>
            <a:ext cx="1005840" cy="320040"/>
          </a:xfrm>
          <a:prstGeom prst="rect">
            <a:avLst/>
          </a:prstGeom>
          <a:noFill/>
          <a:ln/>
        </p:spPr>
        <p:txBody>
          <a:bodyPr wrap="square" lIns="0" tIns="0" rIns="0" bIns="0" rtlCol="0" anchor="ctr"/>
          <a:lstStyle/>
          <a:p>
            <a:pPr algn="ctr" indent="0" marL="0">
              <a:buNone/>
            </a:pPr>
            <a:r>
              <a:rPr lang="en-US" sz="1300" b="1" dirty="0">
                <a:solidFill>
                  <a:srgbClr val="1A2856"/>
                </a:solidFill>
                <a:latin typeface="Cambria" pitchFamily="34" charset="0"/>
                <a:ea typeface="Cambria" pitchFamily="34" charset="-122"/>
                <a:cs typeface="Cambria" pitchFamily="34" charset="-120"/>
              </a:rPr>
              <a:t>113</a:t>
            </a:r>
            <a:endParaRPr lang="en-US" sz="1300" dirty="0"/>
          </a:p>
        </p:txBody>
      </p:sp>
      <p:sp>
        <p:nvSpPr>
          <p:cNvPr id="56" name="Shape 47"/>
          <p:cNvSpPr/>
          <p:nvPr/>
        </p:nvSpPr>
        <p:spPr>
          <a:xfrm>
            <a:off x="6675120" y="4288536"/>
            <a:ext cx="658368" cy="292608"/>
          </a:xfrm>
          <a:prstGeom prst="roundRect">
            <a:avLst>
              <a:gd name="adj" fmla="val 18750"/>
            </a:avLst>
          </a:prstGeom>
          <a:solidFill>
            <a:srgbClr val="DC2626"/>
          </a:solidFill>
          <a:ln/>
        </p:spPr>
      </p:sp>
      <p:sp>
        <p:nvSpPr>
          <p:cNvPr id="57" name="Text 48"/>
          <p:cNvSpPr/>
          <p:nvPr/>
        </p:nvSpPr>
        <p:spPr>
          <a:xfrm>
            <a:off x="6675120" y="4279392"/>
            <a:ext cx="658368" cy="30175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85</a:t>
            </a:r>
            <a:endParaRPr lang="en-US" sz="1100" dirty="0"/>
          </a:p>
        </p:txBody>
      </p:sp>
      <p:sp>
        <p:nvSpPr>
          <p:cNvPr id="58" name="Text 49"/>
          <p:cNvSpPr/>
          <p:nvPr/>
        </p:nvSpPr>
        <p:spPr>
          <a:xfrm>
            <a:off x="7452360" y="4279392"/>
            <a:ext cx="1371600" cy="32004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F&amp;B</a:t>
            </a:r>
            <a:endParaRPr lang="en-US" sz="1000" dirty="0"/>
          </a:p>
        </p:txBody>
      </p:sp>
      <p:sp>
        <p:nvSpPr>
          <p:cNvPr id="59" name="Text 50"/>
          <p:cNvSpPr/>
          <p:nvPr/>
        </p:nvSpPr>
        <p:spPr>
          <a:xfrm>
            <a:off x="320040" y="4736592"/>
            <a:ext cx="8503920" cy="256032"/>
          </a:xfrm>
          <a:prstGeom prst="rect">
            <a:avLst/>
          </a:prstGeom>
          <a:noFill/>
          <a:ln/>
        </p:spPr>
        <p:txBody>
          <a:bodyPr wrap="square"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54 issues at critical risk (≥80)  ·  F&amp;B: 222  ·  Front Office: 172  ·  Engineering: 97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2856"/>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59E0B"/>
          </a:solidFill>
          <a:ln/>
        </p:spPr>
      </p:sp>
      <p:sp>
        <p:nvSpPr>
          <p:cNvPr id="3" name="Text 1"/>
          <p:cNvSpPr/>
          <p:nvPr/>
        </p:nvSpPr>
        <p:spPr>
          <a:xfrm>
            <a:off x="457200" y="201168"/>
            <a:ext cx="8229600" cy="320040"/>
          </a:xfrm>
          <a:prstGeom prst="rect">
            <a:avLst/>
          </a:prstGeom>
          <a:noFill/>
          <a:ln/>
        </p:spPr>
        <p:txBody>
          <a:bodyPr wrap="square" rtlCol="0" anchor="ctr"/>
          <a:lstStyle/>
          <a:p>
            <a:pPr indent="0" marL="0">
              <a:buNone/>
            </a:pPr>
            <a:r>
              <a:rPr lang="en-US" sz="1100" b="1" spc="300" kern="0" dirty="0">
                <a:solidFill>
                  <a:srgbClr val="F59E0B"/>
                </a:solidFill>
                <a:latin typeface="Calibri" pitchFamily="34" charset="0"/>
                <a:ea typeface="Calibri" pitchFamily="34" charset="-122"/>
                <a:cs typeface="Calibri" pitchFamily="34" charset="-120"/>
              </a:rPr>
              <a:t>BUSINESS IMPACT</a:t>
            </a:r>
            <a:endParaRPr lang="en-US" sz="1100" dirty="0"/>
          </a:p>
        </p:txBody>
      </p:sp>
      <p:sp>
        <p:nvSpPr>
          <p:cNvPr id="4" name="Text 2"/>
          <p:cNvSpPr/>
          <p:nvPr/>
        </p:nvSpPr>
        <p:spPr>
          <a:xfrm>
            <a:off x="457200" y="475488"/>
            <a:ext cx="8229600" cy="50292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The Money Slide — Return on Reputation</a:t>
            </a:r>
            <a:endParaRPr lang="en-US" sz="2600" dirty="0"/>
          </a:p>
        </p:txBody>
      </p:sp>
      <p:sp>
        <p:nvSpPr>
          <p:cNvPr id="5" name="Shape 3"/>
          <p:cNvSpPr/>
          <p:nvPr/>
        </p:nvSpPr>
        <p:spPr>
          <a:xfrm>
            <a:off x="320040" y="1143000"/>
            <a:ext cx="8503920" cy="1143000"/>
          </a:xfrm>
          <a:prstGeom prst="roundRect">
            <a:avLst>
              <a:gd name="adj" fmla="val 9600"/>
            </a:avLst>
          </a:prstGeom>
          <a:solidFill>
            <a:srgbClr val="F59E0B"/>
          </a:solidFill>
          <a:ln/>
        </p:spPr>
      </p:sp>
      <p:sp>
        <p:nvSpPr>
          <p:cNvPr id="6" name="Text 4"/>
          <p:cNvSpPr/>
          <p:nvPr/>
        </p:nvSpPr>
        <p:spPr>
          <a:xfrm>
            <a:off x="320040" y="1170432"/>
            <a:ext cx="8503920" cy="548640"/>
          </a:xfrm>
          <a:prstGeom prst="rect">
            <a:avLst/>
          </a:prstGeom>
          <a:noFill/>
          <a:ln/>
        </p:spPr>
        <p:txBody>
          <a:bodyPr wrap="square" rtlCol="0" anchor="ctr"/>
          <a:lstStyle/>
          <a:p>
            <a:pPr algn="ctr" indent="0" marL="0">
              <a:buNone/>
            </a:pPr>
            <a:r>
              <a:rPr lang="en-US" sz="2000" dirty="0">
                <a:solidFill>
                  <a:srgbClr val="1A2856"/>
                </a:solidFill>
                <a:latin typeface="Cambria" pitchFamily="34" charset="0"/>
                <a:ea typeface="Cambria" pitchFamily="34" charset="-122"/>
                <a:cs typeface="Cambria" pitchFamily="34" charset="-120"/>
              </a:rPr>
              <a:t>1% reputation lift  →  </a:t>
            </a:r>
            <a:pPr algn="ctr" indent="0" marL="0">
              <a:buNone/>
            </a:pPr>
            <a:r>
              <a:rPr lang="en-US" sz="2800" b="1" dirty="0">
                <a:solidFill>
                  <a:srgbClr val="1A2856"/>
                </a:solidFill>
                <a:latin typeface="Cambria" pitchFamily="34" charset="0"/>
                <a:ea typeface="Cambria" pitchFamily="34" charset="-122"/>
                <a:cs typeface="Cambria" pitchFamily="34" charset="-120"/>
              </a:rPr>
              <a:t>+$94,000 / year</a:t>
            </a:r>
            <a:pPr algn="ctr" indent="0" marL="0">
              <a:buNone/>
            </a:pPr>
            <a:r>
              <a:rPr lang="en-US" sz="2000" dirty="0">
                <a:solidFill>
                  <a:srgbClr val="1A2856"/>
                </a:solidFill>
                <a:latin typeface="Cambria" pitchFamily="34" charset="0"/>
                <a:ea typeface="Cambria" pitchFamily="34" charset="-122"/>
                <a:cs typeface="Cambria" pitchFamily="34" charset="-120"/>
              </a:rPr>
              <a:t>  in room revenue</a:t>
            </a:r>
            <a:endParaRPr lang="en-US" sz="2000" dirty="0"/>
          </a:p>
        </p:txBody>
      </p:sp>
      <p:sp>
        <p:nvSpPr>
          <p:cNvPr id="7" name="Text 5"/>
          <p:cNvSpPr/>
          <p:nvPr/>
        </p:nvSpPr>
        <p:spPr>
          <a:xfrm>
            <a:off x="320040" y="1719072"/>
            <a:ext cx="8503920" cy="320040"/>
          </a:xfrm>
          <a:prstGeom prst="rect">
            <a:avLst/>
          </a:prstGeom>
          <a:noFill/>
          <a:ln/>
        </p:spPr>
        <p:txBody>
          <a:bodyPr wrap="square" rtlCol="0" anchor="ctr"/>
          <a:lstStyle/>
          <a:p>
            <a:pPr algn="ctr" indent="0" marL="0">
              <a:buNone/>
            </a:pPr>
            <a:r>
              <a:rPr lang="en-US" sz="900" dirty="0">
                <a:solidFill>
                  <a:srgbClr val="1A2856"/>
                </a:solidFill>
                <a:latin typeface="Calibri" pitchFamily="34" charset="0"/>
                <a:ea typeface="Calibri" pitchFamily="34" charset="-122"/>
                <a:cs typeface="Calibri" pitchFamily="34" charset="-120"/>
              </a:rPr>
              <a:t>Cornell benchmark: +1% reputation score → +1.42% RevPAR  ·  229 rooms  ·  ~$6.6M annual room revenue (illustrative)</a:t>
            </a:r>
            <a:endParaRPr lang="en-US" sz="900" dirty="0"/>
          </a:p>
        </p:txBody>
      </p:sp>
      <p:sp>
        <p:nvSpPr>
          <p:cNvPr id="8" name="Shape 6"/>
          <p:cNvSpPr/>
          <p:nvPr/>
        </p:nvSpPr>
        <p:spPr>
          <a:xfrm>
            <a:off x="320040" y="2487168"/>
            <a:ext cx="2697480" cy="1600200"/>
          </a:xfrm>
          <a:prstGeom prst="roundRect">
            <a:avLst>
              <a:gd name="adj" fmla="val 6857"/>
            </a:avLst>
          </a:prstGeom>
          <a:solidFill>
            <a:srgbClr val="FFFFFF">
              <a:alpha val="7000"/>
            </a:srgbClr>
          </a:solidFill>
          <a:ln w="12700">
            <a:solidFill>
              <a:srgbClr val="1D4ED8">
                <a:alpha val="80000"/>
              </a:srgbClr>
            </a:solidFill>
            <a:prstDash val="solid"/>
          </a:ln>
        </p:spPr>
      </p:sp>
      <p:pic>
        <p:nvPicPr>
          <p:cNvPr id="9" name="Image 0" descr="preencoded.png">    </p:cNvPr>
          <p:cNvPicPr>
            <a:picLocks noChangeAspect="1"/>
          </p:cNvPicPr>
          <p:nvPr/>
        </p:nvPicPr>
        <p:blipFill>
          <a:blip r:embed="rId1"/>
          <a:stretch>
            <a:fillRect/>
          </a:stretch>
        </p:blipFill>
        <p:spPr>
          <a:xfrm>
            <a:off x="484632" y="2633472"/>
            <a:ext cx="384048" cy="384048"/>
          </a:xfrm>
          <a:prstGeom prst="rect">
            <a:avLst/>
          </a:prstGeom>
        </p:spPr>
      </p:pic>
      <p:sp>
        <p:nvSpPr>
          <p:cNvPr id="10" name="Text 7"/>
          <p:cNvSpPr/>
          <p:nvPr/>
        </p:nvSpPr>
        <p:spPr>
          <a:xfrm>
            <a:off x="960120" y="2633472"/>
            <a:ext cx="1938528" cy="38404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Efficiency Lever</a:t>
            </a:r>
            <a:endParaRPr lang="en-US" sz="1200" dirty="0"/>
          </a:p>
        </p:txBody>
      </p:sp>
      <p:sp>
        <p:nvSpPr>
          <p:cNvPr id="11" name="Text 8"/>
          <p:cNvSpPr/>
          <p:nvPr/>
        </p:nvSpPr>
        <p:spPr>
          <a:xfrm>
            <a:off x="484632" y="3108960"/>
            <a:ext cx="2423160" cy="868680"/>
          </a:xfrm>
          <a:prstGeom prst="rect">
            <a:avLst/>
          </a:prstGeom>
          <a:noFill/>
          <a:ln/>
        </p:spPr>
        <p:txBody>
          <a:bodyPr wrap="square" rtlCol="0" anchor="ctr"/>
          <a:lstStyle/>
          <a:p>
            <a:pPr indent="0" marL="0">
              <a:buNone/>
            </a:pPr>
            <a:r>
              <a:rPr lang="en-US" sz="1050" dirty="0">
                <a:solidFill>
                  <a:srgbClr val="DBEAFE"/>
                </a:solidFill>
                <a:latin typeface="Calibri" pitchFamily="34" charset="0"/>
                <a:ea typeface="Calibri" pitchFamily="34" charset="-122"/>
                <a:cs typeface="Calibri" pitchFamily="34" charset="-120"/>
              </a:rPr>
              <a:t>~147 analyst-hours per cycle eliminated. No human team reads 2,900 reviews.</a:t>
            </a:r>
            <a:endParaRPr lang="en-US" sz="1050" dirty="0"/>
          </a:p>
        </p:txBody>
      </p:sp>
      <p:sp>
        <p:nvSpPr>
          <p:cNvPr id="12" name="Shape 9"/>
          <p:cNvSpPr/>
          <p:nvPr/>
        </p:nvSpPr>
        <p:spPr>
          <a:xfrm>
            <a:off x="3200400" y="2487168"/>
            <a:ext cx="2697480" cy="1600200"/>
          </a:xfrm>
          <a:prstGeom prst="roundRect">
            <a:avLst>
              <a:gd name="adj" fmla="val 6857"/>
            </a:avLst>
          </a:prstGeom>
          <a:solidFill>
            <a:srgbClr val="FFFFFF">
              <a:alpha val="7000"/>
            </a:srgbClr>
          </a:solidFill>
          <a:ln w="12700">
            <a:solidFill>
              <a:srgbClr val="0D9488">
                <a:alpha val="80000"/>
              </a:srgbClr>
            </a:solidFill>
            <a:prstDash val="solid"/>
          </a:ln>
        </p:spPr>
      </p:sp>
      <p:pic>
        <p:nvPicPr>
          <p:cNvPr id="13" name="Image 1" descr="preencoded.png">    </p:cNvPr>
          <p:cNvPicPr>
            <a:picLocks noChangeAspect="1"/>
          </p:cNvPicPr>
          <p:nvPr/>
        </p:nvPicPr>
        <p:blipFill>
          <a:blip r:embed="rId2"/>
          <a:stretch>
            <a:fillRect/>
          </a:stretch>
        </p:blipFill>
        <p:spPr>
          <a:xfrm>
            <a:off x="3364992" y="2633472"/>
            <a:ext cx="384048" cy="384048"/>
          </a:xfrm>
          <a:prstGeom prst="rect">
            <a:avLst/>
          </a:prstGeom>
        </p:spPr>
      </p:pic>
      <p:sp>
        <p:nvSpPr>
          <p:cNvPr id="14" name="Text 10"/>
          <p:cNvSpPr/>
          <p:nvPr/>
        </p:nvSpPr>
        <p:spPr>
          <a:xfrm>
            <a:off x="3840480" y="2633472"/>
            <a:ext cx="1938528" cy="38404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Speed Lever</a:t>
            </a:r>
            <a:endParaRPr lang="en-US" sz="1200" dirty="0"/>
          </a:p>
        </p:txBody>
      </p:sp>
      <p:sp>
        <p:nvSpPr>
          <p:cNvPr id="15" name="Text 11"/>
          <p:cNvSpPr/>
          <p:nvPr/>
        </p:nvSpPr>
        <p:spPr>
          <a:xfrm>
            <a:off x="3364992" y="3108960"/>
            <a:ext cx="2423160" cy="868680"/>
          </a:xfrm>
          <a:prstGeom prst="rect">
            <a:avLst/>
          </a:prstGeom>
          <a:noFill/>
          <a:ln/>
        </p:spPr>
        <p:txBody>
          <a:bodyPr wrap="square" rtlCol="0" anchor="ctr"/>
          <a:lstStyle/>
          <a:p>
            <a:pPr indent="0" marL="0">
              <a:buNone/>
            </a:pPr>
            <a:r>
              <a:rPr lang="en-US" sz="1050" dirty="0">
                <a:solidFill>
                  <a:srgbClr val="DBEAFE"/>
                </a:solidFill>
                <a:latin typeface="Calibri" pitchFamily="34" charset="0"/>
                <a:ea typeface="Calibri" pitchFamily="34" charset="-122"/>
                <a:cs typeface="Calibri" pitchFamily="34" charset="-120"/>
              </a:rPr>
              <a:t>Every issue pre-routed &amp; prioritized → faster fix, fewer recurrences.</a:t>
            </a:r>
            <a:endParaRPr lang="en-US" sz="1050" dirty="0"/>
          </a:p>
        </p:txBody>
      </p:sp>
      <p:sp>
        <p:nvSpPr>
          <p:cNvPr id="16" name="Shape 12"/>
          <p:cNvSpPr/>
          <p:nvPr/>
        </p:nvSpPr>
        <p:spPr>
          <a:xfrm>
            <a:off x="6080760" y="2487168"/>
            <a:ext cx="2697480" cy="1600200"/>
          </a:xfrm>
          <a:prstGeom prst="roundRect">
            <a:avLst>
              <a:gd name="adj" fmla="val 6857"/>
            </a:avLst>
          </a:prstGeom>
          <a:solidFill>
            <a:srgbClr val="FFFFFF">
              <a:alpha val="7000"/>
            </a:srgbClr>
          </a:solidFill>
          <a:ln w="12700">
            <a:solidFill>
              <a:srgbClr val="7C3AED">
                <a:alpha val="80000"/>
              </a:srgbClr>
            </a:solidFill>
            <a:prstDash val="solid"/>
          </a:ln>
        </p:spPr>
      </p:sp>
      <p:pic>
        <p:nvPicPr>
          <p:cNvPr id="17" name="Image 2" descr="preencoded.png">    </p:cNvPr>
          <p:cNvPicPr>
            <a:picLocks noChangeAspect="1"/>
          </p:cNvPicPr>
          <p:nvPr/>
        </p:nvPicPr>
        <p:blipFill>
          <a:blip r:embed="rId3"/>
          <a:stretch>
            <a:fillRect/>
          </a:stretch>
        </p:blipFill>
        <p:spPr>
          <a:xfrm>
            <a:off x="6245352" y="2633472"/>
            <a:ext cx="384048" cy="384048"/>
          </a:xfrm>
          <a:prstGeom prst="rect">
            <a:avLst/>
          </a:prstGeom>
        </p:spPr>
      </p:pic>
      <p:sp>
        <p:nvSpPr>
          <p:cNvPr id="18" name="Text 13"/>
          <p:cNvSpPr/>
          <p:nvPr/>
        </p:nvSpPr>
        <p:spPr>
          <a:xfrm>
            <a:off x="6720840" y="2633472"/>
            <a:ext cx="1938528" cy="38404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Retention Lever</a:t>
            </a:r>
            <a:endParaRPr lang="en-US" sz="1200" dirty="0"/>
          </a:p>
        </p:txBody>
      </p:sp>
      <p:sp>
        <p:nvSpPr>
          <p:cNvPr id="19" name="Text 14"/>
          <p:cNvSpPr/>
          <p:nvPr/>
        </p:nvSpPr>
        <p:spPr>
          <a:xfrm>
            <a:off x="6245352" y="3108960"/>
            <a:ext cx="2423160" cy="868680"/>
          </a:xfrm>
          <a:prstGeom prst="rect">
            <a:avLst/>
          </a:prstGeom>
          <a:noFill/>
          <a:ln/>
        </p:spPr>
        <p:txBody>
          <a:bodyPr wrap="square" rtlCol="0" anchor="ctr"/>
          <a:lstStyle/>
          <a:p>
            <a:pPr indent="0" marL="0">
              <a:buNone/>
            </a:pPr>
            <a:r>
              <a:rPr lang="en-US" sz="1050" dirty="0">
                <a:solidFill>
                  <a:srgbClr val="DBEAFE"/>
                </a:solidFill>
                <a:latin typeface="Calibri" pitchFamily="34" charset="0"/>
                <a:ea typeface="Calibri" pitchFamily="34" charset="-122"/>
                <a:cs typeface="Calibri" pitchFamily="34" charset="-120"/>
              </a:rPr>
              <a:t>An unresolved complaint costs future stays + word-of-mouth, not just one review.</a:t>
            </a:r>
            <a:endParaRPr lang="en-US" sz="1050" dirty="0"/>
          </a:p>
        </p:txBody>
      </p:sp>
      <p:sp>
        <p:nvSpPr>
          <p:cNvPr id="20" name="Shape 15"/>
          <p:cNvSpPr/>
          <p:nvPr/>
        </p:nvSpPr>
        <p:spPr>
          <a:xfrm>
            <a:off x="320040" y="4279392"/>
            <a:ext cx="8503920" cy="566928"/>
          </a:xfrm>
          <a:prstGeom prst="roundRect">
            <a:avLst>
              <a:gd name="adj" fmla="val 16129"/>
            </a:avLst>
          </a:prstGeom>
          <a:solidFill>
            <a:srgbClr val="FFFFFF">
              <a:alpha val="10000"/>
            </a:srgbClr>
          </a:solidFill>
          <a:ln/>
        </p:spPr>
      </p:sp>
      <p:sp>
        <p:nvSpPr>
          <p:cNvPr id="21" name="Text 16"/>
          <p:cNvSpPr/>
          <p:nvPr/>
        </p:nvSpPr>
        <p:spPr>
          <a:xfrm>
            <a:off x="320040" y="4279392"/>
            <a:ext cx="8503920" cy="566928"/>
          </a:xfrm>
          <a:prstGeom prst="rect">
            <a:avLst/>
          </a:prstGeom>
          <a:noFill/>
          <a:ln/>
        </p:spPr>
        <p:txBody>
          <a:bodyPr wrap="square" rtlCol="0" anchor="ctr"/>
          <a:lstStyle/>
          <a:p>
            <a:pPr algn="ctr" indent="0" marL="0">
              <a:buNone/>
            </a:pPr>
            <a:r>
              <a:rPr lang="en-US" sz="1300" i="1" dirty="0">
                <a:solidFill>
                  <a:srgbClr val="F59E0B"/>
                </a:solidFill>
                <a:latin typeface="Calibri" pitchFamily="34" charset="0"/>
                <a:ea typeface="Calibri" pitchFamily="34" charset="-122"/>
                <a:cs typeface="Calibri" pitchFamily="34" charset="-120"/>
              </a:rPr>
              <a:t>"For the price of a cup of coffee per analysis, we protect a six-figure slice of your room revenue."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A2856"/>
          </a:solidFill>
          <a:ln/>
        </p:spPr>
      </p:sp>
      <p:sp>
        <p:nvSpPr>
          <p:cNvPr id="3" name="Text 1"/>
          <p:cNvSpPr/>
          <p:nvPr/>
        </p:nvSpPr>
        <p:spPr>
          <a:xfrm>
            <a:off x="457200" y="201168"/>
            <a:ext cx="8229600" cy="320040"/>
          </a:xfrm>
          <a:prstGeom prst="rect">
            <a:avLst/>
          </a:prstGeom>
          <a:noFill/>
          <a:ln/>
        </p:spPr>
        <p:txBody>
          <a:bodyPr wrap="square" rtlCol="0" anchor="ctr"/>
          <a:lstStyle/>
          <a:p>
            <a:pPr indent="0" marL="0">
              <a:buNone/>
            </a:pPr>
            <a:r>
              <a:rPr lang="en-US" sz="1100" b="1" spc="300" kern="0" dirty="0">
                <a:solidFill>
                  <a:srgbClr val="F59E0B"/>
                </a:solidFill>
                <a:latin typeface="Calibri" pitchFamily="34" charset="0"/>
                <a:ea typeface="Calibri" pitchFamily="34" charset="-122"/>
                <a:cs typeface="Calibri" pitchFamily="34" charset="-120"/>
              </a:rPr>
              <a:t>WHY US</a:t>
            </a:r>
            <a:endParaRPr lang="en-US" sz="1100" dirty="0"/>
          </a:p>
        </p:txBody>
      </p:sp>
      <p:sp>
        <p:nvSpPr>
          <p:cNvPr id="4" name="Text 2"/>
          <p:cNvSpPr/>
          <p:nvPr/>
        </p:nvSpPr>
        <p:spPr>
          <a:xfrm>
            <a:off x="457200" y="475488"/>
            <a:ext cx="8229600" cy="502920"/>
          </a:xfrm>
          <a:prstGeom prst="rect">
            <a:avLst/>
          </a:prstGeom>
          <a:noFill/>
          <a:ln/>
        </p:spPr>
        <p:txBody>
          <a:bodyPr wrap="square" rtlCol="0" anchor="ctr"/>
          <a:lstStyle/>
          <a:p>
            <a:pPr indent="0" marL="0">
              <a:buNone/>
            </a:pPr>
            <a:r>
              <a:rPr lang="en-US" sz="2600" b="1" dirty="0">
                <a:solidFill>
                  <a:srgbClr val="1A2856"/>
                </a:solidFill>
                <a:latin typeface="Cambria" pitchFamily="34" charset="0"/>
                <a:ea typeface="Cambria" pitchFamily="34" charset="-122"/>
                <a:cs typeface="Cambria" pitchFamily="34" charset="-120"/>
              </a:rPr>
              <a:t>The Competitive Edge</a:t>
            </a:r>
            <a:endParaRPr lang="en-US" sz="2600" dirty="0"/>
          </a:p>
        </p:txBody>
      </p:sp>
      <p:sp>
        <p:nvSpPr>
          <p:cNvPr id="5" name="Shape 3"/>
          <p:cNvSpPr/>
          <p:nvPr/>
        </p:nvSpPr>
        <p:spPr>
          <a:xfrm>
            <a:off x="2788920" y="1188720"/>
            <a:ext cx="1920240" cy="438912"/>
          </a:xfrm>
          <a:prstGeom prst="roundRect">
            <a:avLst>
              <a:gd name="adj" fmla="val 12500"/>
            </a:avLst>
          </a:prstGeom>
          <a:solidFill>
            <a:srgbClr val="64748B"/>
          </a:solidFill>
          <a:ln/>
        </p:spPr>
      </p:sp>
      <p:sp>
        <p:nvSpPr>
          <p:cNvPr id="6" name="Text 4"/>
          <p:cNvSpPr/>
          <p:nvPr/>
        </p:nvSpPr>
        <p:spPr>
          <a:xfrm>
            <a:off x="2788920" y="1188720"/>
            <a:ext cx="1920240" cy="43891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Manual Triage</a:t>
            </a:r>
            <a:endParaRPr lang="en-US" sz="1100" dirty="0"/>
          </a:p>
        </p:txBody>
      </p:sp>
      <p:sp>
        <p:nvSpPr>
          <p:cNvPr id="7" name="Shape 5"/>
          <p:cNvSpPr/>
          <p:nvPr/>
        </p:nvSpPr>
        <p:spPr>
          <a:xfrm>
            <a:off x="4873752" y="1188720"/>
            <a:ext cx="1920240" cy="438912"/>
          </a:xfrm>
          <a:prstGeom prst="roundRect">
            <a:avLst>
              <a:gd name="adj" fmla="val 12500"/>
            </a:avLst>
          </a:prstGeom>
          <a:solidFill>
            <a:srgbClr val="334155"/>
          </a:solidFill>
          <a:ln/>
        </p:spPr>
      </p:sp>
      <p:sp>
        <p:nvSpPr>
          <p:cNvPr id="8" name="Text 6"/>
          <p:cNvSpPr/>
          <p:nvPr/>
        </p:nvSpPr>
        <p:spPr>
          <a:xfrm>
            <a:off x="4873752" y="1188720"/>
            <a:ext cx="1920240" cy="43891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Generic AI Tools</a:t>
            </a:r>
            <a:endParaRPr lang="en-US" sz="1100" dirty="0"/>
          </a:p>
        </p:txBody>
      </p:sp>
      <p:sp>
        <p:nvSpPr>
          <p:cNvPr id="9" name="Shape 7"/>
          <p:cNvSpPr/>
          <p:nvPr/>
        </p:nvSpPr>
        <p:spPr>
          <a:xfrm>
            <a:off x="6958584" y="1188720"/>
            <a:ext cx="1920240" cy="438912"/>
          </a:xfrm>
          <a:prstGeom prst="roundRect">
            <a:avLst>
              <a:gd name="adj" fmla="val 12500"/>
            </a:avLst>
          </a:prstGeom>
          <a:solidFill>
            <a:srgbClr val="1A2856"/>
          </a:solidFill>
          <a:ln/>
        </p:spPr>
      </p:sp>
      <p:sp>
        <p:nvSpPr>
          <p:cNvPr id="10" name="Text 8"/>
          <p:cNvSpPr/>
          <p:nvPr/>
        </p:nvSpPr>
        <p:spPr>
          <a:xfrm>
            <a:off x="6958584" y="1188720"/>
            <a:ext cx="1920240" cy="43891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This System</a:t>
            </a:r>
            <a:endParaRPr lang="en-US" sz="1100" dirty="0"/>
          </a:p>
        </p:txBody>
      </p:sp>
      <p:sp>
        <p:nvSpPr>
          <p:cNvPr id="11" name="Shape 9"/>
          <p:cNvSpPr/>
          <p:nvPr/>
        </p:nvSpPr>
        <p:spPr>
          <a:xfrm>
            <a:off x="320040" y="1783080"/>
            <a:ext cx="8503920" cy="438912"/>
          </a:xfrm>
          <a:prstGeom prst="rect">
            <a:avLst/>
          </a:prstGeom>
          <a:solidFill>
            <a:srgbClr val="FFFFFF"/>
          </a:solidFill>
          <a:ln/>
        </p:spPr>
      </p:sp>
      <p:sp>
        <p:nvSpPr>
          <p:cNvPr id="12" name="Text 10"/>
          <p:cNvSpPr/>
          <p:nvPr/>
        </p:nvSpPr>
        <p:spPr>
          <a:xfrm>
            <a:off x="411480" y="1828800"/>
            <a:ext cx="2286000" cy="347472"/>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Read 2,900+ reviews</a:t>
            </a:r>
            <a:endParaRPr lang="en-US" sz="1100" dirty="0"/>
          </a:p>
        </p:txBody>
      </p:sp>
      <p:sp>
        <p:nvSpPr>
          <p:cNvPr id="13" name="Text 11"/>
          <p:cNvSpPr/>
          <p:nvPr/>
        </p:nvSpPr>
        <p:spPr>
          <a:xfrm>
            <a:off x="2788920" y="1828800"/>
            <a:ext cx="1920240" cy="347472"/>
          </a:xfrm>
          <a:prstGeom prst="rect">
            <a:avLst/>
          </a:prstGeom>
          <a:noFill/>
          <a:ln/>
        </p:spPr>
        <p:txBody>
          <a:bodyPr wrap="square" lIns="0" tIns="0" rIns="0" bIns="0" rtlCol="0" anchor="ctr"/>
          <a:lstStyle/>
          <a:p>
            <a:pPr algn="ctr" indent="0" marL="0">
              <a:buNone/>
            </a:pPr>
            <a:r>
              <a:rPr lang="en-US" sz="1100" dirty="0">
                <a:solidFill>
                  <a:srgbClr val="DC2626"/>
                </a:solidFill>
                <a:latin typeface="Calibri" pitchFamily="34" charset="0"/>
                <a:ea typeface="Calibri" pitchFamily="34" charset="-122"/>
                <a:cs typeface="Calibri" pitchFamily="34" charset="-120"/>
              </a:rPr>
              <a:t>✗</a:t>
            </a:r>
            <a:endParaRPr lang="en-US" sz="1100" dirty="0"/>
          </a:p>
        </p:txBody>
      </p:sp>
      <p:sp>
        <p:nvSpPr>
          <p:cNvPr id="14" name="Text 12"/>
          <p:cNvSpPr/>
          <p:nvPr/>
        </p:nvSpPr>
        <p:spPr>
          <a:xfrm>
            <a:off x="4873752" y="1828800"/>
            <a:ext cx="1920240" cy="347472"/>
          </a:xfrm>
          <a:prstGeom prst="rect">
            <a:avLst/>
          </a:prstGeom>
          <a:noFill/>
          <a:ln/>
        </p:spPr>
        <p:txBody>
          <a:bodyPr wrap="square" lIns="0" tIns="0" rIns="0" bIns="0"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partial</a:t>
            </a:r>
            <a:endParaRPr lang="en-US" sz="1100" dirty="0"/>
          </a:p>
        </p:txBody>
      </p:sp>
      <p:sp>
        <p:nvSpPr>
          <p:cNvPr id="15" name="Text 13"/>
          <p:cNvSpPr/>
          <p:nvPr/>
        </p:nvSpPr>
        <p:spPr>
          <a:xfrm>
            <a:off x="6958584" y="1828800"/>
            <a:ext cx="1920240" cy="347472"/>
          </a:xfrm>
          <a:prstGeom prst="rect">
            <a:avLst/>
          </a:prstGeom>
          <a:noFill/>
          <a:ln/>
        </p:spPr>
        <p:txBody>
          <a:bodyPr wrap="square" lIns="0" tIns="0" rIns="0" bIns="0" rtlCol="0" anchor="ctr"/>
          <a:lstStyle/>
          <a:p>
            <a:pPr algn="ctr" indent="0" marL="0">
              <a:buNone/>
            </a:pPr>
            <a:r>
              <a:rPr lang="en-US" sz="1100" b="1" dirty="0">
                <a:solidFill>
                  <a:srgbClr val="0D9488"/>
                </a:solidFill>
                <a:latin typeface="Calibri" pitchFamily="34" charset="0"/>
                <a:ea typeface="Calibri" pitchFamily="34" charset="-122"/>
                <a:cs typeface="Calibri" pitchFamily="34" charset="-120"/>
              </a:rPr>
              <a:t>✓</a:t>
            </a:r>
            <a:endParaRPr lang="en-US" sz="1100" dirty="0"/>
          </a:p>
        </p:txBody>
      </p:sp>
      <p:sp>
        <p:nvSpPr>
          <p:cNvPr id="16" name="Shape 14"/>
          <p:cNvSpPr/>
          <p:nvPr/>
        </p:nvSpPr>
        <p:spPr>
          <a:xfrm>
            <a:off x="320040" y="2249424"/>
            <a:ext cx="8503920" cy="438912"/>
          </a:xfrm>
          <a:prstGeom prst="rect">
            <a:avLst/>
          </a:prstGeom>
          <a:solidFill>
            <a:srgbClr val="DBEAFE"/>
          </a:solidFill>
          <a:ln/>
        </p:spPr>
      </p:sp>
      <p:sp>
        <p:nvSpPr>
          <p:cNvPr id="17" name="Text 15"/>
          <p:cNvSpPr/>
          <p:nvPr/>
        </p:nvSpPr>
        <p:spPr>
          <a:xfrm>
            <a:off x="411480" y="2295144"/>
            <a:ext cx="2286000" cy="347472"/>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Hotel-specific issues</a:t>
            </a:r>
            <a:endParaRPr lang="en-US" sz="1100" dirty="0"/>
          </a:p>
        </p:txBody>
      </p:sp>
      <p:sp>
        <p:nvSpPr>
          <p:cNvPr id="18" name="Text 16"/>
          <p:cNvSpPr/>
          <p:nvPr/>
        </p:nvSpPr>
        <p:spPr>
          <a:xfrm>
            <a:off x="2788920" y="2295144"/>
            <a:ext cx="1920240" cy="347472"/>
          </a:xfrm>
          <a:prstGeom prst="rect">
            <a:avLst/>
          </a:prstGeom>
          <a:noFill/>
          <a:ln/>
        </p:spPr>
        <p:txBody>
          <a:bodyPr wrap="square" lIns="0" tIns="0" rIns="0" bIns="0"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 slow</a:t>
            </a:r>
            <a:endParaRPr lang="en-US" sz="1100" dirty="0"/>
          </a:p>
        </p:txBody>
      </p:sp>
      <p:sp>
        <p:nvSpPr>
          <p:cNvPr id="19" name="Text 17"/>
          <p:cNvSpPr/>
          <p:nvPr/>
        </p:nvSpPr>
        <p:spPr>
          <a:xfrm>
            <a:off x="4873752" y="2295144"/>
            <a:ext cx="1920240" cy="347472"/>
          </a:xfrm>
          <a:prstGeom prst="rect">
            <a:avLst/>
          </a:prstGeom>
          <a:noFill/>
          <a:ln/>
        </p:spPr>
        <p:txBody>
          <a:bodyPr wrap="square" lIns="0" tIns="0" rIns="0" bIns="0"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 generic</a:t>
            </a:r>
            <a:endParaRPr lang="en-US" sz="1100" dirty="0"/>
          </a:p>
        </p:txBody>
      </p:sp>
      <p:sp>
        <p:nvSpPr>
          <p:cNvPr id="20" name="Text 18"/>
          <p:cNvSpPr/>
          <p:nvPr/>
        </p:nvSpPr>
        <p:spPr>
          <a:xfrm>
            <a:off x="6958584" y="2295144"/>
            <a:ext cx="1920240" cy="347472"/>
          </a:xfrm>
          <a:prstGeom prst="rect">
            <a:avLst/>
          </a:prstGeom>
          <a:noFill/>
          <a:ln/>
        </p:spPr>
        <p:txBody>
          <a:bodyPr wrap="square" lIns="0" tIns="0" rIns="0" bIns="0" rtlCol="0" anchor="ctr"/>
          <a:lstStyle/>
          <a:p>
            <a:pPr algn="ctr" indent="0" marL="0">
              <a:buNone/>
            </a:pPr>
            <a:r>
              <a:rPr lang="en-US" sz="1100" b="1" dirty="0">
                <a:solidFill>
                  <a:srgbClr val="0D9488"/>
                </a:solidFill>
                <a:latin typeface="Calibri" pitchFamily="34" charset="0"/>
                <a:ea typeface="Calibri" pitchFamily="34" charset="-122"/>
                <a:cs typeface="Calibri" pitchFamily="34" charset="-120"/>
              </a:rPr>
              <a:t>✓</a:t>
            </a:r>
            <a:endParaRPr lang="en-US" sz="1100" dirty="0"/>
          </a:p>
        </p:txBody>
      </p:sp>
      <p:sp>
        <p:nvSpPr>
          <p:cNvPr id="21" name="Shape 19"/>
          <p:cNvSpPr/>
          <p:nvPr/>
        </p:nvSpPr>
        <p:spPr>
          <a:xfrm>
            <a:off x="320040" y="2715768"/>
            <a:ext cx="8503920" cy="438912"/>
          </a:xfrm>
          <a:prstGeom prst="rect">
            <a:avLst/>
          </a:prstGeom>
          <a:solidFill>
            <a:srgbClr val="FFFFFF"/>
          </a:solidFill>
          <a:ln/>
        </p:spPr>
      </p:sp>
      <p:sp>
        <p:nvSpPr>
          <p:cNvPr id="22" name="Text 20"/>
          <p:cNvSpPr/>
          <p:nvPr/>
        </p:nvSpPr>
        <p:spPr>
          <a:xfrm>
            <a:off x="411480" y="2761488"/>
            <a:ext cx="2286000" cy="347472"/>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Evidence + specifics attached</a:t>
            </a:r>
            <a:endParaRPr lang="en-US" sz="1100" dirty="0"/>
          </a:p>
        </p:txBody>
      </p:sp>
      <p:sp>
        <p:nvSpPr>
          <p:cNvPr id="23" name="Text 21"/>
          <p:cNvSpPr/>
          <p:nvPr/>
        </p:nvSpPr>
        <p:spPr>
          <a:xfrm>
            <a:off x="2788920" y="2761488"/>
            <a:ext cx="1920240" cy="347472"/>
          </a:xfrm>
          <a:prstGeom prst="rect">
            <a:avLst/>
          </a:prstGeom>
          <a:noFill/>
          <a:ln/>
        </p:spPr>
        <p:txBody>
          <a:bodyPr wrap="square" lIns="0" tIns="0" rIns="0" bIns="0" rtlCol="0" anchor="ctr"/>
          <a:lstStyle/>
          <a:p>
            <a:pPr algn="ctr" indent="0" marL="0">
              <a:buNone/>
            </a:pPr>
            <a:r>
              <a:rPr lang="en-US" sz="1100" dirty="0">
                <a:solidFill>
                  <a:srgbClr val="DC2626"/>
                </a:solidFill>
                <a:latin typeface="Calibri" pitchFamily="34" charset="0"/>
                <a:ea typeface="Calibri" pitchFamily="34" charset="-122"/>
                <a:cs typeface="Calibri" pitchFamily="34" charset="-120"/>
              </a:rPr>
              <a:t>✗</a:t>
            </a:r>
            <a:endParaRPr lang="en-US" sz="1100" dirty="0"/>
          </a:p>
        </p:txBody>
      </p:sp>
      <p:sp>
        <p:nvSpPr>
          <p:cNvPr id="24" name="Text 22"/>
          <p:cNvSpPr/>
          <p:nvPr/>
        </p:nvSpPr>
        <p:spPr>
          <a:xfrm>
            <a:off x="4873752" y="2761488"/>
            <a:ext cx="1920240" cy="347472"/>
          </a:xfrm>
          <a:prstGeom prst="rect">
            <a:avLst/>
          </a:prstGeom>
          <a:noFill/>
          <a:ln/>
        </p:spPr>
        <p:txBody>
          <a:bodyPr wrap="square" lIns="0" tIns="0" rIns="0" bIns="0" rtlCol="0" anchor="ctr"/>
          <a:lstStyle/>
          <a:p>
            <a:pPr algn="ctr" indent="0" marL="0">
              <a:buNone/>
            </a:pPr>
            <a:r>
              <a:rPr lang="en-US" sz="1100" dirty="0">
                <a:solidFill>
                  <a:srgbClr val="DC2626"/>
                </a:solidFill>
                <a:latin typeface="Calibri" pitchFamily="34" charset="0"/>
                <a:ea typeface="Calibri" pitchFamily="34" charset="-122"/>
                <a:cs typeface="Calibri" pitchFamily="34" charset="-120"/>
              </a:rPr>
              <a:t>✗</a:t>
            </a:r>
            <a:endParaRPr lang="en-US" sz="1100" dirty="0"/>
          </a:p>
        </p:txBody>
      </p:sp>
      <p:sp>
        <p:nvSpPr>
          <p:cNvPr id="25" name="Text 23"/>
          <p:cNvSpPr/>
          <p:nvPr/>
        </p:nvSpPr>
        <p:spPr>
          <a:xfrm>
            <a:off x="6958584" y="2761488"/>
            <a:ext cx="1920240" cy="347472"/>
          </a:xfrm>
          <a:prstGeom prst="rect">
            <a:avLst/>
          </a:prstGeom>
          <a:noFill/>
          <a:ln/>
        </p:spPr>
        <p:txBody>
          <a:bodyPr wrap="square" lIns="0" tIns="0" rIns="0" bIns="0" rtlCol="0" anchor="ctr"/>
          <a:lstStyle/>
          <a:p>
            <a:pPr algn="ctr" indent="0" marL="0">
              <a:buNone/>
            </a:pPr>
            <a:r>
              <a:rPr lang="en-US" sz="1100" b="1" dirty="0">
                <a:solidFill>
                  <a:srgbClr val="0D9488"/>
                </a:solidFill>
                <a:latin typeface="Calibri" pitchFamily="34" charset="0"/>
                <a:ea typeface="Calibri" pitchFamily="34" charset="-122"/>
                <a:cs typeface="Calibri" pitchFamily="34" charset="-120"/>
              </a:rPr>
              <a:t>✓ room &amp; receipt</a:t>
            </a:r>
            <a:endParaRPr lang="en-US" sz="1100" dirty="0"/>
          </a:p>
        </p:txBody>
      </p:sp>
      <p:sp>
        <p:nvSpPr>
          <p:cNvPr id="26" name="Shape 24"/>
          <p:cNvSpPr/>
          <p:nvPr/>
        </p:nvSpPr>
        <p:spPr>
          <a:xfrm>
            <a:off x="320040" y="3182112"/>
            <a:ext cx="8503920" cy="438912"/>
          </a:xfrm>
          <a:prstGeom prst="rect">
            <a:avLst/>
          </a:prstGeom>
          <a:solidFill>
            <a:srgbClr val="DBEAFE"/>
          </a:solidFill>
          <a:ln/>
        </p:spPr>
      </p:sp>
      <p:sp>
        <p:nvSpPr>
          <p:cNvPr id="27" name="Text 25"/>
          <p:cNvSpPr/>
          <p:nvPr/>
        </p:nvSpPr>
        <p:spPr>
          <a:xfrm>
            <a:off x="411480" y="3227832"/>
            <a:ext cx="2286000" cy="347472"/>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Department ownership &amp; tracking</a:t>
            </a:r>
            <a:endParaRPr lang="en-US" sz="1100" dirty="0"/>
          </a:p>
        </p:txBody>
      </p:sp>
      <p:sp>
        <p:nvSpPr>
          <p:cNvPr id="28" name="Text 26"/>
          <p:cNvSpPr/>
          <p:nvPr/>
        </p:nvSpPr>
        <p:spPr>
          <a:xfrm>
            <a:off x="2788920" y="3227832"/>
            <a:ext cx="1920240" cy="347472"/>
          </a:xfrm>
          <a:prstGeom prst="rect">
            <a:avLst/>
          </a:prstGeom>
          <a:noFill/>
          <a:ln/>
        </p:spPr>
        <p:txBody>
          <a:bodyPr wrap="square" lIns="0" tIns="0" rIns="0" bIns="0"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Manual</a:t>
            </a:r>
            <a:endParaRPr lang="en-US" sz="1100" dirty="0"/>
          </a:p>
        </p:txBody>
      </p:sp>
      <p:sp>
        <p:nvSpPr>
          <p:cNvPr id="29" name="Text 27"/>
          <p:cNvSpPr/>
          <p:nvPr/>
        </p:nvSpPr>
        <p:spPr>
          <a:xfrm>
            <a:off x="4873752" y="3227832"/>
            <a:ext cx="1920240" cy="347472"/>
          </a:xfrm>
          <a:prstGeom prst="rect">
            <a:avLst/>
          </a:prstGeom>
          <a:noFill/>
          <a:ln/>
        </p:spPr>
        <p:txBody>
          <a:bodyPr wrap="square" lIns="0" tIns="0" rIns="0" bIns="0" rtlCol="0" anchor="ctr"/>
          <a:lstStyle/>
          <a:p>
            <a:pPr algn="ctr" indent="0" marL="0">
              <a:buNone/>
            </a:pPr>
            <a:r>
              <a:rPr lang="en-US" sz="1100" dirty="0">
                <a:solidFill>
                  <a:srgbClr val="DC2626"/>
                </a:solidFill>
                <a:latin typeface="Calibri" pitchFamily="34" charset="0"/>
                <a:ea typeface="Calibri" pitchFamily="34" charset="-122"/>
                <a:cs typeface="Calibri" pitchFamily="34" charset="-120"/>
              </a:rPr>
              <a:t>✗</a:t>
            </a:r>
            <a:endParaRPr lang="en-US" sz="1100" dirty="0"/>
          </a:p>
        </p:txBody>
      </p:sp>
      <p:sp>
        <p:nvSpPr>
          <p:cNvPr id="30" name="Text 28"/>
          <p:cNvSpPr/>
          <p:nvPr/>
        </p:nvSpPr>
        <p:spPr>
          <a:xfrm>
            <a:off x="6958584" y="3227832"/>
            <a:ext cx="1920240" cy="347472"/>
          </a:xfrm>
          <a:prstGeom prst="rect">
            <a:avLst/>
          </a:prstGeom>
          <a:noFill/>
          <a:ln/>
        </p:spPr>
        <p:txBody>
          <a:bodyPr wrap="square" lIns="0" tIns="0" rIns="0" bIns="0" rtlCol="0" anchor="ctr"/>
          <a:lstStyle/>
          <a:p>
            <a:pPr algn="ctr" indent="0" marL="0">
              <a:buNone/>
            </a:pPr>
            <a:r>
              <a:rPr lang="en-US" sz="1100" b="1" dirty="0">
                <a:solidFill>
                  <a:srgbClr val="0D9488"/>
                </a:solidFill>
                <a:latin typeface="Calibri" pitchFamily="34" charset="0"/>
                <a:ea typeface="Calibri" pitchFamily="34" charset="-122"/>
                <a:cs typeface="Calibri" pitchFamily="34" charset="-120"/>
              </a:rPr>
              <a:t>✓</a:t>
            </a:r>
            <a:endParaRPr lang="en-US" sz="1100" dirty="0"/>
          </a:p>
        </p:txBody>
      </p:sp>
      <p:sp>
        <p:nvSpPr>
          <p:cNvPr id="31" name="Shape 29"/>
          <p:cNvSpPr/>
          <p:nvPr/>
        </p:nvSpPr>
        <p:spPr>
          <a:xfrm>
            <a:off x="320040" y="3648456"/>
            <a:ext cx="8503920" cy="438912"/>
          </a:xfrm>
          <a:prstGeom prst="rect">
            <a:avLst/>
          </a:prstGeom>
          <a:solidFill>
            <a:srgbClr val="FFFFFF"/>
          </a:solidFill>
          <a:ln/>
        </p:spPr>
      </p:sp>
      <p:sp>
        <p:nvSpPr>
          <p:cNvPr id="32" name="Text 30"/>
          <p:cNvSpPr/>
          <p:nvPr/>
        </p:nvSpPr>
        <p:spPr>
          <a:xfrm>
            <a:off x="411480" y="3694176"/>
            <a:ext cx="2286000" cy="347472"/>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Early warning before bubble-up</a:t>
            </a:r>
            <a:endParaRPr lang="en-US" sz="1100" dirty="0"/>
          </a:p>
        </p:txBody>
      </p:sp>
      <p:sp>
        <p:nvSpPr>
          <p:cNvPr id="33" name="Text 31"/>
          <p:cNvSpPr/>
          <p:nvPr/>
        </p:nvSpPr>
        <p:spPr>
          <a:xfrm>
            <a:off x="2788920" y="3694176"/>
            <a:ext cx="1920240" cy="347472"/>
          </a:xfrm>
          <a:prstGeom prst="rect">
            <a:avLst/>
          </a:prstGeom>
          <a:noFill/>
          <a:ln/>
        </p:spPr>
        <p:txBody>
          <a:bodyPr wrap="square" lIns="0" tIns="0" rIns="0" bIns="0" rtlCol="0" anchor="ctr"/>
          <a:lstStyle/>
          <a:p>
            <a:pPr algn="ctr" indent="0" marL="0">
              <a:buNone/>
            </a:pPr>
            <a:r>
              <a:rPr lang="en-US" sz="1100" dirty="0">
                <a:solidFill>
                  <a:srgbClr val="DC2626"/>
                </a:solidFill>
                <a:latin typeface="Calibri" pitchFamily="34" charset="0"/>
                <a:ea typeface="Calibri" pitchFamily="34" charset="-122"/>
                <a:cs typeface="Calibri" pitchFamily="34" charset="-120"/>
              </a:rPr>
              <a:t>✗</a:t>
            </a:r>
            <a:endParaRPr lang="en-US" sz="1100" dirty="0"/>
          </a:p>
        </p:txBody>
      </p:sp>
      <p:sp>
        <p:nvSpPr>
          <p:cNvPr id="34" name="Text 32"/>
          <p:cNvSpPr/>
          <p:nvPr/>
        </p:nvSpPr>
        <p:spPr>
          <a:xfrm>
            <a:off x="4873752" y="3694176"/>
            <a:ext cx="1920240" cy="347472"/>
          </a:xfrm>
          <a:prstGeom prst="rect">
            <a:avLst/>
          </a:prstGeom>
          <a:noFill/>
          <a:ln/>
        </p:spPr>
        <p:txBody>
          <a:bodyPr wrap="square" lIns="0" tIns="0" rIns="0" bIns="0" rtlCol="0" anchor="ctr"/>
          <a:lstStyle/>
          <a:p>
            <a:pPr algn="ctr" indent="0" marL="0">
              <a:buNone/>
            </a:pPr>
            <a:r>
              <a:rPr lang="en-US" sz="1100" dirty="0">
                <a:solidFill>
                  <a:srgbClr val="DC2626"/>
                </a:solidFill>
                <a:latin typeface="Calibri" pitchFamily="34" charset="0"/>
                <a:ea typeface="Calibri" pitchFamily="34" charset="-122"/>
                <a:cs typeface="Calibri" pitchFamily="34" charset="-120"/>
              </a:rPr>
              <a:t>✗</a:t>
            </a:r>
            <a:endParaRPr lang="en-US" sz="1100" dirty="0"/>
          </a:p>
        </p:txBody>
      </p:sp>
      <p:sp>
        <p:nvSpPr>
          <p:cNvPr id="35" name="Text 33"/>
          <p:cNvSpPr/>
          <p:nvPr/>
        </p:nvSpPr>
        <p:spPr>
          <a:xfrm>
            <a:off x="6958584" y="3694176"/>
            <a:ext cx="1920240" cy="347472"/>
          </a:xfrm>
          <a:prstGeom prst="rect">
            <a:avLst/>
          </a:prstGeom>
          <a:noFill/>
          <a:ln/>
        </p:spPr>
        <p:txBody>
          <a:bodyPr wrap="square" lIns="0" tIns="0" rIns="0" bIns="0" rtlCol="0" anchor="ctr"/>
          <a:lstStyle/>
          <a:p>
            <a:pPr algn="ctr" indent="0" marL="0">
              <a:buNone/>
            </a:pPr>
            <a:r>
              <a:rPr lang="en-US" sz="1100" b="1" dirty="0">
                <a:solidFill>
                  <a:srgbClr val="0D9488"/>
                </a:solidFill>
                <a:latin typeface="Calibri" pitchFamily="34" charset="0"/>
                <a:ea typeface="Calibri" pitchFamily="34" charset="-122"/>
                <a:cs typeface="Calibri" pitchFamily="34" charset="-120"/>
              </a:rPr>
              <a:t>✓ 587 signals</a:t>
            </a:r>
            <a:endParaRPr lang="en-US" sz="1100" dirty="0"/>
          </a:p>
        </p:txBody>
      </p:sp>
      <p:sp>
        <p:nvSpPr>
          <p:cNvPr id="36" name="Shape 34"/>
          <p:cNvSpPr/>
          <p:nvPr/>
        </p:nvSpPr>
        <p:spPr>
          <a:xfrm>
            <a:off x="320040" y="4114800"/>
            <a:ext cx="8503920" cy="438912"/>
          </a:xfrm>
          <a:prstGeom prst="rect">
            <a:avLst/>
          </a:prstGeom>
          <a:solidFill>
            <a:srgbClr val="DBEAFE"/>
          </a:solidFill>
          <a:ln/>
        </p:spPr>
      </p:sp>
      <p:sp>
        <p:nvSpPr>
          <p:cNvPr id="37" name="Text 35"/>
          <p:cNvSpPr/>
          <p:nvPr/>
        </p:nvSpPr>
        <p:spPr>
          <a:xfrm>
            <a:off x="411480" y="4160520"/>
            <a:ext cx="2286000" cy="347472"/>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Cost per analysis run</a:t>
            </a:r>
            <a:endParaRPr lang="en-US" sz="1100" dirty="0"/>
          </a:p>
        </p:txBody>
      </p:sp>
      <p:sp>
        <p:nvSpPr>
          <p:cNvPr id="38" name="Text 36"/>
          <p:cNvSpPr/>
          <p:nvPr/>
        </p:nvSpPr>
        <p:spPr>
          <a:xfrm>
            <a:off x="2788920" y="4160520"/>
            <a:ext cx="1920240" cy="347472"/>
          </a:xfrm>
          <a:prstGeom prst="rect">
            <a:avLst/>
          </a:prstGeom>
          <a:noFill/>
          <a:ln/>
        </p:spPr>
        <p:txBody>
          <a:bodyPr wrap="square" lIns="0" tIns="0" rIns="0" bIns="0"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Hours</a:t>
            </a:r>
            <a:endParaRPr lang="en-US" sz="1100" dirty="0"/>
          </a:p>
        </p:txBody>
      </p:sp>
      <p:sp>
        <p:nvSpPr>
          <p:cNvPr id="39" name="Text 37"/>
          <p:cNvSpPr/>
          <p:nvPr/>
        </p:nvSpPr>
        <p:spPr>
          <a:xfrm>
            <a:off x="4873752" y="4160520"/>
            <a:ext cx="1920240" cy="347472"/>
          </a:xfrm>
          <a:prstGeom prst="rect">
            <a:avLst/>
          </a:prstGeom>
          <a:noFill/>
          <a:ln/>
        </p:spPr>
        <p:txBody>
          <a:bodyPr wrap="square" lIns="0" tIns="0" rIns="0" bIns="0"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Subscription</a:t>
            </a:r>
            <a:endParaRPr lang="en-US" sz="1100" dirty="0"/>
          </a:p>
        </p:txBody>
      </p:sp>
      <p:sp>
        <p:nvSpPr>
          <p:cNvPr id="40" name="Text 38"/>
          <p:cNvSpPr/>
          <p:nvPr/>
        </p:nvSpPr>
        <p:spPr>
          <a:xfrm>
            <a:off x="6958584" y="4160520"/>
            <a:ext cx="1920240" cy="347472"/>
          </a:xfrm>
          <a:prstGeom prst="rect">
            <a:avLst/>
          </a:prstGeom>
          <a:noFill/>
          <a:ln/>
        </p:spPr>
        <p:txBody>
          <a:bodyPr wrap="square" lIns="0" tIns="0" rIns="0" bIns="0" rtlCol="0" anchor="ctr"/>
          <a:lstStyle/>
          <a:p>
            <a:pPr algn="ctr" indent="0" marL="0">
              <a:buNone/>
            </a:pPr>
            <a:r>
              <a:rPr lang="en-US" sz="1100" b="1" dirty="0">
                <a:solidFill>
                  <a:srgbClr val="0D9488"/>
                </a:solidFill>
                <a:latin typeface="Calibri" pitchFamily="34" charset="0"/>
                <a:ea typeface="Calibri" pitchFamily="34" charset="-122"/>
                <a:cs typeface="Calibri" pitchFamily="34" charset="-120"/>
              </a:rPr>
              <a:t>~$0.25</a:t>
            </a:r>
            <a:endParaRPr lang="en-US" sz="1100" dirty="0"/>
          </a:p>
        </p:txBody>
      </p:sp>
      <p:sp>
        <p:nvSpPr>
          <p:cNvPr id="41" name="Shape 39"/>
          <p:cNvSpPr/>
          <p:nvPr/>
        </p:nvSpPr>
        <p:spPr>
          <a:xfrm>
            <a:off x="320040" y="4626864"/>
            <a:ext cx="8503920" cy="411480"/>
          </a:xfrm>
          <a:prstGeom prst="roundRect">
            <a:avLst>
              <a:gd name="adj" fmla="val 17778"/>
            </a:avLst>
          </a:prstGeom>
          <a:solidFill>
            <a:srgbClr val="1A2856"/>
          </a:solidFill>
          <a:ln/>
        </p:spPr>
      </p:sp>
      <p:sp>
        <p:nvSpPr>
          <p:cNvPr id="42" name="Text 40"/>
          <p:cNvSpPr/>
          <p:nvPr/>
        </p:nvSpPr>
        <p:spPr>
          <a:xfrm>
            <a:off x="320040" y="4626864"/>
            <a:ext cx="8503920" cy="411480"/>
          </a:xfrm>
          <a:prstGeom prst="rect">
            <a:avLst/>
          </a:prstGeom>
          <a:noFill/>
          <a:ln/>
        </p:spPr>
        <p:txBody>
          <a:bodyPr wrap="square" rtlCol="0" anchor="ctr"/>
          <a:lstStyle/>
          <a:p>
            <a:pPr algn="ctr" indent="0" marL="0">
              <a:buNone/>
            </a:pPr>
            <a:r>
              <a:rPr lang="en-US" sz="1100" i="1" dirty="0">
                <a:solidFill>
                  <a:srgbClr val="FFFFFF"/>
                </a:solidFill>
                <a:latin typeface="Calibri" pitchFamily="34" charset="0"/>
                <a:ea typeface="Calibri" pitchFamily="34" charset="-122"/>
                <a:cs typeface="Calibri" pitchFamily="34" charset="-120"/>
              </a:rPr>
              <a:t>77% of every complaint is already traced to a fixable issue with evidence attached — no human team can match that coverage.</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2856"/>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59E0B"/>
          </a:solidFill>
          <a:ln/>
        </p:spPr>
      </p:sp>
      <p:sp>
        <p:nvSpPr>
          <p:cNvPr id="3" name="Text 1"/>
          <p:cNvSpPr/>
          <p:nvPr/>
        </p:nvSpPr>
        <p:spPr>
          <a:xfrm>
            <a:off x="457200" y="201168"/>
            <a:ext cx="8229600" cy="320040"/>
          </a:xfrm>
          <a:prstGeom prst="rect">
            <a:avLst/>
          </a:prstGeom>
          <a:noFill/>
          <a:ln/>
        </p:spPr>
        <p:txBody>
          <a:bodyPr wrap="square" rtlCol="0" anchor="ctr"/>
          <a:lstStyle/>
          <a:p>
            <a:pPr indent="0" marL="0">
              <a:buNone/>
            </a:pPr>
            <a:r>
              <a:rPr lang="en-US" sz="1100" b="1" spc="300" kern="0" dirty="0">
                <a:solidFill>
                  <a:srgbClr val="F59E0B"/>
                </a:solidFill>
                <a:latin typeface="Calibri" pitchFamily="34" charset="0"/>
                <a:ea typeface="Calibri" pitchFamily="34" charset="-122"/>
                <a:cs typeface="Calibri" pitchFamily="34" charset="-120"/>
              </a:rPr>
              <a:t>THE ASK</a:t>
            </a:r>
            <a:endParaRPr lang="en-US" sz="1100" dirty="0"/>
          </a:p>
        </p:txBody>
      </p:sp>
      <p:sp>
        <p:nvSpPr>
          <p:cNvPr id="4" name="Text 2"/>
          <p:cNvSpPr/>
          <p:nvPr/>
        </p:nvSpPr>
        <p:spPr>
          <a:xfrm>
            <a:off x="457200" y="475488"/>
            <a:ext cx="8229600" cy="50292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Three Numbers. One Decision.</a:t>
            </a:r>
            <a:endParaRPr lang="en-US" sz="2600" dirty="0"/>
          </a:p>
        </p:txBody>
      </p:sp>
      <p:sp>
        <p:nvSpPr>
          <p:cNvPr id="5" name="Shape 3"/>
          <p:cNvSpPr/>
          <p:nvPr/>
        </p:nvSpPr>
        <p:spPr>
          <a:xfrm>
            <a:off x="320040" y="1170432"/>
            <a:ext cx="2697480" cy="2148840"/>
          </a:xfrm>
          <a:prstGeom prst="roundRect">
            <a:avLst>
              <a:gd name="adj" fmla="val 5106"/>
            </a:avLst>
          </a:prstGeom>
          <a:solidFill>
            <a:srgbClr val="FFFFFF">
              <a:alpha val="10000"/>
            </a:srgbClr>
          </a:solidFill>
          <a:ln w="12700">
            <a:solidFill>
              <a:srgbClr val="1D4ED8"/>
            </a:solidFill>
            <a:prstDash val="solid"/>
          </a:ln>
          <a:effectLst>
            <a:outerShdw sx="100000" sy="100000" kx="0" ky="0" algn="bl" rotWithShape="0" blurRad="101600" dist="38100" dir="2700000">
              <a:srgbClr val="000000">
                <a:alpha val="13000"/>
              </a:srgbClr>
            </a:outerShdw>
          </a:effectLst>
        </p:spPr>
      </p:sp>
      <p:sp>
        <p:nvSpPr>
          <p:cNvPr id="6" name="Text 4"/>
          <p:cNvSpPr/>
          <p:nvPr/>
        </p:nvSpPr>
        <p:spPr>
          <a:xfrm>
            <a:off x="320040" y="1298448"/>
            <a:ext cx="2697480" cy="822960"/>
          </a:xfrm>
          <a:prstGeom prst="rect">
            <a:avLst/>
          </a:prstGeom>
          <a:noFill/>
          <a:ln/>
        </p:spPr>
        <p:txBody>
          <a:bodyPr wrap="square" rtlCol="0" anchor="ctr"/>
          <a:lstStyle/>
          <a:p>
            <a:pPr algn="ctr" indent="0" marL="0">
              <a:buNone/>
            </a:pPr>
            <a:r>
              <a:rPr lang="en-US" sz="3400" b="1" dirty="0">
                <a:solidFill>
                  <a:srgbClr val="1D4ED8"/>
                </a:solidFill>
                <a:latin typeface="Cambria" pitchFamily="34" charset="0"/>
                <a:ea typeface="Cambria" pitchFamily="34" charset="-122"/>
                <a:cs typeface="Cambria" pitchFamily="34" charset="-120"/>
              </a:rPr>
              <a:t>20 : 1</a:t>
            </a:r>
            <a:endParaRPr lang="en-US" sz="3400" dirty="0"/>
          </a:p>
        </p:txBody>
      </p:sp>
      <p:sp>
        <p:nvSpPr>
          <p:cNvPr id="7" name="Text 5"/>
          <p:cNvSpPr/>
          <p:nvPr/>
        </p:nvSpPr>
        <p:spPr>
          <a:xfrm>
            <a:off x="320040" y="2103120"/>
            <a:ext cx="2697480"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Compression Ratio</a:t>
            </a:r>
            <a:endParaRPr lang="en-US" sz="1300" dirty="0"/>
          </a:p>
        </p:txBody>
      </p:sp>
      <p:sp>
        <p:nvSpPr>
          <p:cNvPr id="8" name="Text 6"/>
          <p:cNvSpPr/>
          <p:nvPr/>
        </p:nvSpPr>
        <p:spPr>
          <a:xfrm>
            <a:off x="320040" y="2523744"/>
            <a:ext cx="2697480" cy="594360"/>
          </a:xfrm>
          <a:prstGeom prst="rect">
            <a:avLst/>
          </a:prstGeom>
          <a:noFill/>
          <a:ln/>
        </p:spPr>
        <p:txBody>
          <a:bodyPr wrap="square" rtlCol="0" anchor="ctr"/>
          <a:lstStyle/>
          <a:p>
            <a:pPr algn="ctr" indent="0" marL="0">
              <a:buNone/>
            </a:pPr>
            <a:r>
              <a:rPr lang="en-US" sz="1050" dirty="0">
                <a:solidFill>
                  <a:srgbClr val="DBEAFE"/>
                </a:solidFill>
                <a:latin typeface="Calibri" pitchFamily="34" charset="0"/>
                <a:ea typeface="Calibri" pitchFamily="34" charset="-122"/>
                <a:cs typeface="Calibri" pitchFamily="34" charset="-120"/>
              </a:rPr>
              <a:t>Complaints → clean action list</a:t>
            </a:r>
            <a:endParaRPr lang="en-US" sz="1050" dirty="0"/>
          </a:p>
        </p:txBody>
      </p:sp>
      <p:sp>
        <p:nvSpPr>
          <p:cNvPr id="9" name="Shape 7"/>
          <p:cNvSpPr/>
          <p:nvPr/>
        </p:nvSpPr>
        <p:spPr>
          <a:xfrm>
            <a:off x="3200400" y="1170432"/>
            <a:ext cx="2697480" cy="2148840"/>
          </a:xfrm>
          <a:prstGeom prst="roundRect">
            <a:avLst>
              <a:gd name="adj" fmla="val 5106"/>
            </a:avLst>
          </a:prstGeom>
          <a:solidFill>
            <a:srgbClr val="FFFFFF">
              <a:alpha val="10000"/>
            </a:srgbClr>
          </a:solidFill>
          <a:ln w="12700">
            <a:solidFill>
              <a:srgbClr val="0D9488"/>
            </a:solidFill>
            <a:prstDash val="solid"/>
          </a:ln>
          <a:effectLst>
            <a:outerShdw sx="100000" sy="100000" kx="0" ky="0" algn="bl" rotWithShape="0" blurRad="101600" dist="38100" dir="2700000">
              <a:srgbClr val="000000">
                <a:alpha val="13000"/>
              </a:srgbClr>
            </a:outerShdw>
          </a:effectLst>
        </p:spPr>
      </p:sp>
      <p:sp>
        <p:nvSpPr>
          <p:cNvPr id="10" name="Text 8"/>
          <p:cNvSpPr/>
          <p:nvPr/>
        </p:nvSpPr>
        <p:spPr>
          <a:xfrm>
            <a:off x="3200400" y="1298448"/>
            <a:ext cx="2697480" cy="822960"/>
          </a:xfrm>
          <a:prstGeom prst="rect">
            <a:avLst/>
          </a:prstGeom>
          <a:noFill/>
          <a:ln/>
        </p:spPr>
        <p:txBody>
          <a:bodyPr wrap="square" rtlCol="0" anchor="ctr"/>
          <a:lstStyle/>
          <a:p>
            <a:pPr algn="ctr" indent="0" marL="0">
              <a:buNone/>
            </a:pPr>
            <a:r>
              <a:rPr lang="en-US" sz="3400" b="1" dirty="0">
                <a:solidFill>
                  <a:srgbClr val="0D9488"/>
                </a:solidFill>
                <a:latin typeface="Cambria" pitchFamily="34" charset="0"/>
                <a:ea typeface="Cambria" pitchFamily="34" charset="-122"/>
                <a:cs typeface="Cambria" pitchFamily="34" charset="-120"/>
              </a:rPr>
              <a:t>587</a:t>
            </a:r>
            <a:endParaRPr lang="en-US" sz="3400" dirty="0"/>
          </a:p>
        </p:txBody>
      </p:sp>
      <p:sp>
        <p:nvSpPr>
          <p:cNvPr id="11" name="Text 9"/>
          <p:cNvSpPr/>
          <p:nvPr/>
        </p:nvSpPr>
        <p:spPr>
          <a:xfrm>
            <a:off x="3200400" y="2103120"/>
            <a:ext cx="2697480"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Early Warnings</a:t>
            </a:r>
            <a:endParaRPr lang="en-US" sz="1300" dirty="0"/>
          </a:p>
        </p:txBody>
      </p:sp>
      <p:sp>
        <p:nvSpPr>
          <p:cNvPr id="12" name="Text 10"/>
          <p:cNvSpPr/>
          <p:nvPr/>
        </p:nvSpPr>
        <p:spPr>
          <a:xfrm>
            <a:off x="3200400" y="2523744"/>
            <a:ext cx="2697480" cy="594360"/>
          </a:xfrm>
          <a:prstGeom prst="rect">
            <a:avLst/>
          </a:prstGeom>
          <a:noFill/>
          <a:ln/>
        </p:spPr>
        <p:txBody>
          <a:bodyPr wrap="square" rtlCol="0" anchor="ctr"/>
          <a:lstStyle/>
          <a:p>
            <a:pPr algn="ctr" indent="0" marL="0">
              <a:buNone/>
            </a:pPr>
            <a:r>
              <a:rPr lang="en-US" sz="1050" dirty="0">
                <a:solidFill>
                  <a:srgbClr val="DBEAFE"/>
                </a:solidFill>
                <a:latin typeface="Calibri" pitchFamily="34" charset="0"/>
                <a:ea typeface="Calibri" pitchFamily="34" charset="-122"/>
                <a:cs typeface="Calibri" pitchFamily="34" charset="-120"/>
              </a:rPr>
              <a:t>Problems caught before spread</a:t>
            </a:r>
            <a:endParaRPr lang="en-US" sz="1050" dirty="0"/>
          </a:p>
        </p:txBody>
      </p:sp>
      <p:sp>
        <p:nvSpPr>
          <p:cNvPr id="13" name="Shape 11"/>
          <p:cNvSpPr/>
          <p:nvPr/>
        </p:nvSpPr>
        <p:spPr>
          <a:xfrm>
            <a:off x="6080760" y="1170432"/>
            <a:ext cx="2697480" cy="2148840"/>
          </a:xfrm>
          <a:prstGeom prst="roundRect">
            <a:avLst>
              <a:gd name="adj" fmla="val 5106"/>
            </a:avLst>
          </a:prstGeom>
          <a:solidFill>
            <a:srgbClr val="FFFFFF">
              <a:alpha val="10000"/>
            </a:srgbClr>
          </a:solidFill>
          <a:ln w="12700">
            <a:solidFill>
              <a:srgbClr val="F59E0B"/>
            </a:solidFill>
            <a:prstDash val="solid"/>
          </a:ln>
          <a:effectLst>
            <a:outerShdw sx="100000" sy="100000" kx="0" ky="0" algn="bl" rotWithShape="0" blurRad="101600" dist="38100" dir="2700000">
              <a:srgbClr val="000000">
                <a:alpha val="13000"/>
              </a:srgbClr>
            </a:outerShdw>
          </a:effectLst>
        </p:spPr>
      </p:sp>
      <p:sp>
        <p:nvSpPr>
          <p:cNvPr id="14" name="Text 12"/>
          <p:cNvSpPr/>
          <p:nvPr/>
        </p:nvSpPr>
        <p:spPr>
          <a:xfrm>
            <a:off x="6080760" y="1298448"/>
            <a:ext cx="2697480" cy="822960"/>
          </a:xfrm>
          <a:prstGeom prst="rect">
            <a:avLst/>
          </a:prstGeom>
          <a:noFill/>
          <a:ln/>
        </p:spPr>
        <p:txBody>
          <a:bodyPr wrap="square" rtlCol="0" anchor="ctr"/>
          <a:lstStyle/>
          <a:p>
            <a:pPr algn="ctr" indent="0" marL="0">
              <a:buNone/>
            </a:pPr>
            <a:r>
              <a:rPr lang="en-US" sz="3400" b="1" dirty="0">
                <a:solidFill>
                  <a:srgbClr val="F59E0B"/>
                </a:solidFill>
                <a:latin typeface="Cambria" pitchFamily="34" charset="0"/>
                <a:ea typeface="Cambria" pitchFamily="34" charset="-122"/>
                <a:cs typeface="Cambria" pitchFamily="34" charset="-120"/>
              </a:rPr>
              <a:t>6-Figures</a:t>
            </a:r>
            <a:endParaRPr lang="en-US" sz="3400" dirty="0"/>
          </a:p>
        </p:txBody>
      </p:sp>
      <p:sp>
        <p:nvSpPr>
          <p:cNvPr id="15" name="Text 13"/>
          <p:cNvSpPr/>
          <p:nvPr/>
        </p:nvSpPr>
        <p:spPr>
          <a:xfrm>
            <a:off x="6080760" y="2103120"/>
            <a:ext cx="2697480"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Annual Revenue at Risk</a:t>
            </a:r>
            <a:endParaRPr lang="en-US" sz="1300" dirty="0"/>
          </a:p>
        </p:txBody>
      </p:sp>
      <p:sp>
        <p:nvSpPr>
          <p:cNvPr id="16" name="Text 14"/>
          <p:cNvSpPr/>
          <p:nvPr/>
        </p:nvSpPr>
        <p:spPr>
          <a:xfrm>
            <a:off x="6080760" y="2523744"/>
            <a:ext cx="2697480" cy="594360"/>
          </a:xfrm>
          <a:prstGeom prst="rect">
            <a:avLst/>
          </a:prstGeom>
          <a:noFill/>
          <a:ln/>
        </p:spPr>
        <p:txBody>
          <a:bodyPr wrap="square" rtlCol="0" anchor="ctr"/>
          <a:lstStyle/>
          <a:p>
            <a:pPr algn="ctr" indent="0" marL="0">
              <a:buNone/>
            </a:pPr>
            <a:r>
              <a:rPr lang="en-US" sz="1050" dirty="0">
                <a:solidFill>
                  <a:srgbClr val="DBEAFE"/>
                </a:solidFill>
                <a:latin typeface="Calibri" pitchFamily="34" charset="0"/>
                <a:ea typeface="Calibri" pitchFamily="34" charset="-122"/>
                <a:cs typeface="Calibri" pitchFamily="34" charset="-120"/>
              </a:rPr>
              <a:t>Reputation score is revenue</a:t>
            </a:r>
            <a:endParaRPr lang="en-US" sz="1050" dirty="0"/>
          </a:p>
        </p:txBody>
      </p:sp>
      <p:sp>
        <p:nvSpPr>
          <p:cNvPr id="17" name="Shape 15"/>
          <p:cNvSpPr/>
          <p:nvPr/>
        </p:nvSpPr>
        <p:spPr>
          <a:xfrm>
            <a:off x="320040" y="3493008"/>
            <a:ext cx="8503920" cy="658368"/>
          </a:xfrm>
          <a:prstGeom prst="roundRect">
            <a:avLst>
              <a:gd name="adj" fmla="val 16667"/>
            </a:avLst>
          </a:prstGeom>
          <a:solidFill>
            <a:srgbClr val="F59E0B"/>
          </a:solidFill>
          <a:ln/>
        </p:spPr>
      </p:sp>
      <p:sp>
        <p:nvSpPr>
          <p:cNvPr id="18" name="Text 16"/>
          <p:cNvSpPr/>
          <p:nvPr/>
        </p:nvSpPr>
        <p:spPr>
          <a:xfrm>
            <a:off x="320040" y="3493008"/>
            <a:ext cx="8503920" cy="658368"/>
          </a:xfrm>
          <a:prstGeom prst="rect">
            <a:avLst/>
          </a:prstGeom>
          <a:noFill/>
          <a:ln/>
        </p:spPr>
        <p:txBody>
          <a:bodyPr wrap="square" rtlCol="0" anchor="ctr"/>
          <a:lstStyle/>
          <a:p>
            <a:pPr algn="ctr" indent="0" marL="0">
              <a:buNone/>
            </a:pPr>
            <a:r>
              <a:rPr lang="en-US" sz="2000" b="1" dirty="0">
                <a:solidFill>
                  <a:srgbClr val="1A2856"/>
                </a:solidFill>
                <a:latin typeface="Cambria" pitchFamily="34" charset="0"/>
                <a:ea typeface="Cambria" pitchFamily="34" charset="-122"/>
                <a:cs typeface="Cambria" pitchFamily="34" charset="-120"/>
              </a:rPr>
              <a:t>Reputation Insurance. Not Damage Repair.</a:t>
            </a:r>
            <a:endParaRPr lang="en-US" sz="2000" dirty="0"/>
          </a:p>
        </p:txBody>
      </p:sp>
      <p:sp>
        <p:nvSpPr>
          <p:cNvPr id="19" name="Text 17"/>
          <p:cNvSpPr/>
          <p:nvPr/>
        </p:nvSpPr>
        <p:spPr>
          <a:xfrm>
            <a:off x="457200" y="4297680"/>
            <a:ext cx="8229600" cy="685800"/>
          </a:xfrm>
          <a:prstGeom prst="rect">
            <a:avLst/>
          </a:prstGeom>
          <a:noFill/>
          <a:ln/>
        </p:spPr>
        <p:txBody>
          <a:bodyPr wrap="square" rtlCol="0" anchor="ctr"/>
          <a:lstStyle/>
          <a:p>
            <a:pPr algn="ctr" indent="0" marL="0">
              <a:buNone/>
            </a:pPr>
            <a:r>
              <a:rPr lang="en-US" sz="1300" i="1" dirty="0">
                <a:solidFill>
                  <a:srgbClr val="DBEAFE"/>
                </a:solidFill>
                <a:latin typeface="Calibri" pitchFamily="34" charset="0"/>
                <a:ea typeface="Calibri" pitchFamily="34" charset="-122"/>
                <a:cs typeface="Calibri" pitchFamily="34" charset="-120"/>
              </a:rPr>
              <a:t>"You can't buy back a reputation once an AI has memorized it —</a:t>
            </a:r>
            <a:endParaRPr lang="en-US" sz="1300" dirty="0"/>
          </a:p>
          <a:p>
            <a:pPr algn="ctr" indent="0" marL="0">
              <a:buNone/>
            </a:pPr>
            <a:r>
              <a:rPr lang="en-US" sz="1300" i="1" dirty="0">
                <a:solidFill>
                  <a:srgbClr val="DBEAFE"/>
                </a:solidFill>
                <a:latin typeface="Calibri" pitchFamily="34" charset="0"/>
                <a:ea typeface="Calibri" pitchFamily="34" charset="-122"/>
                <a:cs typeface="Calibri" pitchFamily="34" charset="-120"/>
              </a:rPr>
              <a:t>but for cents per analysis, you can make sure it never has to."</a:t>
            </a:r>
            <a:endParaRPr lang="en-US" sz="1300" dirty="0"/>
          </a:p>
        </p:txBody>
      </p:sp>
      <p:sp>
        <p:nvSpPr>
          <p:cNvPr id="20" name="Text 18"/>
          <p:cNvSpPr/>
          <p:nvPr/>
        </p:nvSpPr>
        <p:spPr>
          <a:xfrm>
            <a:off x="457200" y="4901184"/>
            <a:ext cx="8229600" cy="256032"/>
          </a:xfrm>
          <a:prstGeom prst="rect">
            <a:avLst/>
          </a:prstGeom>
          <a:noFill/>
          <a:ln/>
        </p:spPr>
        <p:txBody>
          <a:bodyPr wrap="square" rtlCol="0" anchor="ctr"/>
          <a:lstStyle/>
          <a:p>
            <a:pPr algn="ctr" indent="0" marL="0">
              <a:buNone/>
            </a:pPr>
            <a:r>
              <a:rPr lang="en-US" sz="1000" dirty="0">
                <a:solidFill>
                  <a:srgbClr val="F59E0B"/>
                </a:solidFill>
                <a:latin typeface="Calibri" pitchFamily="34" charset="0"/>
                <a:ea typeface="Calibri" pitchFamily="34" charset="-122"/>
                <a:cs typeface="Calibri" pitchFamily="34" charset="-120"/>
              </a:rPr>
              <a:t>Next step: we run this across your full review history and deliver your first prioritized action list next week.</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Guest Review Intelligence &amp; Action Management</dc:title>
  <dc:subject>PptxGenJS Presentation</dc:subject>
  <dc:creator>PptxGenJS</dc:creator>
  <cp:lastModifiedBy>PptxGenJS</cp:lastModifiedBy>
  <cp:revision>1</cp:revision>
  <dcterms:created xsi:type="dcterms:W3CDTF">2026-06-09T15:21:25Z</dcterms:created>
  <dcterms:modified xsi:type="dcterms:W3CDTF">2026-06-09T15:21:25Z</dcterms:modified>
</cp:coreProperties>
</file>